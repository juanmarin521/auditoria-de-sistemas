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74" autoAdjust="0"/>
  </p:normalViewPr>
  <p:slideViewPr>
    <p:cSldViewPr>
      <p:cViewPr>
        <p:scale>
          <a:sx n="75" d="100"/>
          <a:sy n="75" d="100"/>
        </p:scale>
        <p:origin x="51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F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F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F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F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300" y="429259"/>
            <a:ext cx="899668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F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900" y="1064894"/>
            <a:ext cx="1125220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5300" y="6524075"/>
            <a:ext cx="3002915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Auditoría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Sistemas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Metro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Medellín</a:t>
            </a:r>
            <a:r>
              <a:rPr spc="-15" dirty="0"/>
              <a:t> </a:t>
            </a:r>
            <a:r>
              <a:rPr dirty="0"/>
              <a:t>·</a:t>
            </a:r>
            <a:r>
              <a:rPr spc="-20" dirty="0"/>
              <a:t> </a:t>
            </a:r>
            <a:r>
              <a:rPr dirty="0"/>
              <a:t>Cables</a:t>
            </a:r>
            <a:r>
              <a:rPr spc="-15" dirty="0"/>
              <a:t> </a:t>
            </a:r>
            <a:r>
              <a:rPr dirty="0"/>
              <a:t>Aéreos</a:t>
            </a:r>
            <a:r>
              <a:rPr spc="-15" dirty="0"/>
              <a:t> </a:t>
            </a:r>
            <a:r>
              <a:rPr dirty="0"/>
              <a:t>(SAP</a:t>
            </a:r>
            <a:r>
              <a:rPr spc="-20" dirty="0"/>
              <a:t> </a:t>
            </a:r>
            <a:r>
              <a:rPr spc="-25" dirty="0"/>
              <a:t>PM)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61874" y="6524075"/>
            <a:ext cx="173354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69798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177800" y="0"/>
              <a:ext cx="12014200" cy="6858000"/>
            </a:xfrm>
            <a:custGeom>
              <a:avLst/>
              <a:gdLst/>
              <a:ahLst/>
              <a:cxnLst/>
              <a:rect l="l" t="t" r="r" b="b"/>
              <a:pathLst>
                <a:path w="12014200" h="6858000">
                  <a:moveTo>
                    <a:pt x="0" y="6858000"/>
                  </a:moveTo>
                  <a:lnTo>
                    <a:pt x="12014200" y="6858000"/>
                  </a:lnTo>
                  <a:lnTo>
                    <a:pt x="120142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77800" cy="6858000"/>
            </a:xfrm>
            <a:custGeom>
              <a:avLst/>
              <a:gdLst/>
              <a:ahLst/>
              <a:cxnLst/>
              <a:rect l="l" t="t" r="r" b="b"/>
              <a:pathLst>
                <a:path w="177800" h="6858000">
                  <a:moveTo>
                    <a:pt x="177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77800" y="685800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6300" y="1480820"/>
            <a:ext cx="1623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ED3B1"/>
                </a:solidFill>
                <a:latin typeface="Calibri"/>
                <a:cs typeface="Calibri"/>
              </a:rPr>
              <a:t>AUDITORÍA</a:t>
            </a:r>
            <a:r>
              <a:rPr sz="1200" b="1" spc="-40" dirty="0">
                <a:solidFill>
                  <a:srgbClr val="6ED3B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ED3B1"/>
                </a:solidFill>
                <a:latin typeface="Calibri"/>
                <a:cs typeface="Calibri"/>
              </a:rPr>
              <a:t>DE</a:t>
            </a:r>
            <a:r>
              <a:rPr sz="1200" b="1" spc="-35" dirty="0">
                <a:solidFill>
                  <a:srgbClr val="6ED3B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ED3B1"/>
                </a:solidFill>
                <a:latin typeface="Calibri"/>
                <a:cs typeface="Calibri"/>
              </a:rPr>
              <a:t>SISTEMAS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76300" y="1600661"/>
            <a:ext cx="7536180" cy="1478280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5200" dirty="0">
                <a:solidFill>
                  <a:srgbClr val="FFFFFF"/>
                </a:solidFill>
              </a:rPr>
              <a:t>Metro</a:t>
            </a:r>
            <a:r>
              <a:rPr sz="5200" spc="-70" dirty="0">
                <a:solidFill>
                  <a:srgbClr val="FFFFFF"/>
                </a:solidFill>
              </a:rPr>
              <a:t> </a:t>
            </a:r>
            <a:r>
              <a:rPr sz="5200" dirty="0">
                <a:solidFill>
                  <a:srgbClr val="FFFFFF"/>
                </a:solidFill>
              </a:rPr>
              <a:t>de</a:t>
            </a:r>
            <a:r>
              <a:rPr sz="5200" spc="-70" dirty="0">
                <a:solidFill>
                  <a:srgbClr val="FFFFFF"/>
                </a:solidFill>
              </a:rPr>
              <a:t> </a:t>
            </a:r>
            <a:r>
              <a:rPr sz="5200" spc="-10" dirty="0">
                <a:solidFill>
                  <a:srgbClr val="FFFFFF"/>
                </a:solidFill>
              </a:rPr>
              <a:t>Medellín</a:t>
            </a:r>
            <a:endParaRPr sz="5200" dirty="0"/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b="0" dirty="0">
                <a:solidFill>
                  <a:srgbClr val="D6E4DF"/>
                </a:solidFill>
                <a:latin typeface="Calibri"/>
                <a:cs typeface="Calibri"/>
              </a:rPr>
              <a:t>Área</a:t>
            </a:r>
            <a:r>
              <a:rPr sz="2200" b="0" spc="-10" dirty="0">
                <a:solidFill>
                  <a:srgbClr val="D6E4D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D6E4DF"/>
                </a:solidFill>
                <a:latin typeface="Calibri"/>
                <a:cs typeface="Calibri"/>
              </a:rPr>
              <a:t>de</a:t>
            </a:r>
            <a:r>
              <a:rPr sz="2200" b="0" spc="-10" dirty="0">
                <a:solidFill>
                  <a:srgbClr val="D6E4D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D6E4DF"/>
                </a:solidFill>
                <a:latin typeface="Calibri"/>
                <a:cs typeface="Calibri"/>
              </a:rPr>
              <a:t>Cables</a:t>
            </a:r>
            <a:r>
              <a:rPr sz="2200" b="0" spc="-10" dirty="0">
                <a:solidFill>
                  <a:srgbClr val="D6E4D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D6E4DF"/>
                </a:solidFill>
                <a:latin typeface="Calibri"/>
                <a:cs typeface="Calibri"/>
              </a:rPr>
              <a:t>Aéreos</a:t>
            </a:r>
            <a:r>
              <a:rPr sz="2200" b="0" spc="-10" dirty="0">
                <a:solidFill>
                  <a:srgbClr val="D6E4D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D6E4DF"/>
                </a:solidFill>
                <a:latin typeface="Calibri"/>
                <a:cs typeface="Calibri"/>
              </a:rPr>
              <a:t>·</a:t>
            </a:r>
            <a:r>
              <a:rPr sz="2200" b="0" spc="-10" dirty="0">
                <a:solidFill>
                  <a:srgbClr val="D6E4DF"/>
                </a:solidFill>
                <a:latin typeface="Calibri"/>
                <a:cs typeface="Calibri"/>
              </a:rPr>
              <a:t> </a:t>
            </a:r>
            <a:r>
              <a:rPr lang="es-CO" sz="2200" b="0" spc="-10" dirty="0">
                <a:solidFill>
                  <a:srgbClr val="D6E4DF"/>
                </a:solidFill>
              </a:rPr>
              <a:t>SAP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9000" y="3683000"/>
            <a:ext cx="10414000" cy="0"/>
          </a:xfrm>
          <a:custGeom>
            <a:avLst/>
            <a:gdLst/>
            <a:ahLst/>
            <a:cxnLst/>
            <a:rect l="l" t="t" r="r" b="b"/>
            <a:pathLst>
              <a:path w="10414000">
                <a:moveTo>
                  <a:pt x="0" y="0"/>
                </a:moveTo>
                <a:lnTo>
                  <a:pt x="10414000" y="0"/>
                </a:lnTo>
              </a:path>
            </a:pathLst>
          </a:custGeom>
          <a:ln w="12700">
            <a:solidFill>
              <a:srgbClr val="3B6975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876300" y="3886200"/>
            <a:ext cx="637984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600" dirty="0">
                <a:solidFill>
                  <a:srgbClr val="A8BFBF"/>
                </a:solidFill>
                <a:latin typeface="Calibri"/>
                <a:cs typeface="Calibri"/>
              </a:rPr>
              <a:t>Juan Pablo Marin Espinosa – Diego Henao Camayo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9728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PUNTO DE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PARTIDA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38322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Contexto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organización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300" y="1120139"/>
            <a:ext cx="10823575" cy="871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6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Metro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Medellín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gestiona</a:t>
            </a:r>
            <a:r>
              <a:rPr sz="16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mantenimiento</a:t>
            </a:r>
            <a:r>
              <a:rPr lang="es-CO"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con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SA</a:t>
            </a:r>
            <a:r>
              <a:rPr lang="es-CO" sz="1600" dirty="0">
                <a:solidFill>
                  <a:srgbClr val="2A3A42"/>
                </a:solidFill>
                <a:latin typeface="Calibri"/>
                <a:cs typeface="Calibri"/>
              </a:rPr>
              <a:t>P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.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pérdida</a:t>
            </a:r>
            <a:r>
              <a:rPr sz="16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trazabilidad</a:t>
            </a:r>
            <a:r>
              <a:rPr sz="1600" spc="-10" dirty="0">
                <a:solidFill>
                  <a:srgbClr val="2A3A42"/>
                </a:solidFill>
                <a:latin typeface="Calibri"/>
                <a:cs typeface="Calibri"/>
              </a:rPr>
              <a:t> genera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riesgos</a:t>
            </a:r>
            <a:r>
              <a:rPr sz="16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A3A42"/>
                </a:solidFill>
                <a:latin typeface="Calibri"/>
                <a:cs typeface="Calibri"/>
              </a:rPr>
              <a:t>operativos</a:t>
            </a:r>
            <a:r>
              <a:rPr lang="es-CO" sz="1600" dirty="0">
                <a:solidFill>
                  <a:srgbClr val="2A3A42"/>
                </a:solidFill>
                <a:latin typeface="Calibri"/>
                <a:cs typeface="Calibri"/>
              </a:rPr>
              <a:t> y regulatorios.</a:t>
            </a:r>
          </a:p>
          <a:p>
            <a:pPr marL="12700" marR="5080">
              <a:lnSpc>
                <a:spcPct val="114599"/>
              </a:lnSpc>
              <a:spcBef>
                <a:spcPts val="100"/>
              </a:spcBef>
            </a:pPr>
            <a:endParaRPr lang="es-CO" sz="1600" dirty="0">
              <a:solidFill>
                <a:srgbClr val="2A3A42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lang="es-CO" sz="1600" dirty="0">
                <a:solidFill>
                  <a:srgbClr val="2A3A42"/>
                </a:solidFill>
                <a:latin typeface="Calibri"/>
                <a:cs typeface="Calibri"/>
              </a:rPr>
              <a:t>SAP es un sistema informático de gestión empresarial que ayuda a las compañías a centralizar y controlar todas sus operaciones.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2286000"/>
            <a:ext cx="3556000" cy="2794000"/>
            <a:chOff x="508000" y="2286000"/>
            <a:chExt cx="3556000" cy="2794000"/>
          </a:xfrm>
        </p:grpSpPr>
        <p:sp>
          <p:nvSpPr>
            <p:cNvPr id="6" name="object 6"/>
            <p:cNvSpPr/>
            <p:nvPr/>
          </p:nvSpPr>
          <p:spPr>
            <a:xfrm>
              <a:off x="508000" y="2286000"/>
              <a:ext cx="3556000" cy="2794000"/>
            </a:xfrm>
            <a:custGeom>
              <a:avLst/>
              <a:gdLst/>
              <a:ahLst/>
              <a:cxnLst/>
              <a:rect l="l" t="t" r="r" b="b"/>
              <a:pathLst>
                <a:path w="3556000" h="2794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2717800"/>
                  </a:lnTo>
                  <a:lnTo>
                    <a:pt x="5982" y="2747477"/>
                  </a:lnTo>
                  <a:lnTo>
                    <a:pt x="22303" y="2771696"/>
                  </a:lnTo>
                  <a:lnTo>
                    <a:pt x="46522" y="2788017"/>
                  </a:lnTo>
                  <a:lnTo>
                    <a:pt x="76200" y="2794000"/>
                  </a:lnTo>
                  <a:lnTo>
                    <a:pt x="3479800" y="2794000"/>
                  </a:lnTo>
                  <a:lnTo>
                    <a:pt x="3509477" y="2788017"/>
                  </a:lnTo>
                  <a:lnTo>
                    <a:pt x="3533696" y="2771696"/>
                  </a:lnTo>
                  <a:lnTo>
                    <a:pt x="3550017" y="2747477"/>
                  </a:lnTo>
                  <a:lnTo>
                    <a:pt x="3556000" y="2717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08000" y="2286000"/>
              <a:ext cx="50800" cy="2794000"/>
            </a:xfrm>
            <a:custGeom>
              <a:avLst/>
              <a:gdLst/>
              <a:ahLst/>
              <a:cxnLst/>
              <a:rect l="l" t="t" r="r" b="b"/>
              <a:pathLst>
                <a:path w="50800" h="2794000">
                  <a:moveTo>
                    <a:pt x="50800" y="0"/>
                  </a:moveTo>
                  <a:lnTo>
                    <a:pt x="0" y="0"/>
                  </a:lnTo>
                  <a:lnTo>
                    <a:pt x="0" y="2794000"/>
                  </a:lnTo>
                  <a:lnTo>
                    <a:pt x="50800" y="2794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872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3900" y="2384530"/>
            <a:ext cx="2888615" cy="139826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dirty="0">
                <a:solidFill>
                  <a:srgbClr val="0F2F3A"/>
                </a:solidFill>
                <a:latin typeface="Calibri"/>
                <a:cs typeface="Calibri"/>
              </a:rPr>
              <a:t>Trazabilidad de </a:t>
            </a:r>
            <a:r>
              <a:rPr sz="1800" b="1" spc="-10" dirty="0">
                <a:solidFill>
                  <a:srgbClr val="0F2F3A"/>
                </a:solidFill>
                <a:latin typeface="Calibri"/>
                <a:cs typeface="Calibri"/>
              </a:rPr>
              <a:t>componentes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40"/>
              </a:spcBef>
            </a:pP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SAP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permite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cerrar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órdenes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de </a:t>
            </a:r>
            <a:r>
              <a:rPr sz="1500" dirty="0" err="1">
                <a:solidFill>
                  <a:srgbClr val="2A3A42"/>
                </a:solidFill>
                <a:latin typeface="Calibri"/>
                <a:cs typeface="Calibri"/>
              </a:rPr>
              <a:t>componentes</a:t>
            </a:r>
            <a:r>
              <a:rPr sz="150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(Como</a:t>
            </a:r>
            <a:r>
              <a:rPr sz="150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lang="es-CO" sz="1500" spc="-25" dirty="0">
                <a:solidFill>
                  <a:srgbClr val="2A3A42"/>
                </a:solidFill>
                <a:latin typeface="Calibri"/>
                <a:cs typeface="Calibri"/>
              </a:rPr>
              <a:t>elementos de cabinas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)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sin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ingresar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serial</a:t>
            </a:r>
            <a:r>
              <a:rPr sz="150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único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50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componente.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18000" y="2286000"/>
            <a:ext cx="3556000" cy="2794000"/>
            <a:chOff x="4318000" y="2286000"/>
            <a:chExt cx="3556000" cy="2794000"/>
          </a:xfrm>
        </p:grpSpPr>
        <p:sp>
          <p:nvSpPr>
            <p:cNvPr id="10" name="object 10"/>
            <p:cNvSpPr/>
            <p:nvPr/>
          </p:nvSpPr>
          <p:spPr>
            <a:xfrm>
              <a:off x="4318000" y="2286000"/>
              <a:ext cx="3556000" cy="2794000"/>
            </a:xfrm>
            <a:custGeom>
              <a:avLst/>
              <a:gdLst/>
              <a:ahLst/>
              <a:cxnLst/>
              <a:rect l="l" t="t" r="r" b="b"/>
              <a:pathLst>
                <a:path w="3556000" h="2794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2717800"/>
                  </a:lnTo>
                  <a:lnTo>
                    <a:pt x="5982" y="2747477"/>
                  </a:lnTo>
                  <a:lnTo>
                    <a:pt x="22303" y="2771696"/>
                  </a:lnTo>
                  <a:lnTo>
                    <a:pt x="46522" y="2788017"/>
                  </a:lnTo>
                  <a:lnTo>
                    <a:pt x="76200" y="2794000"/>
                  </a:lnTo>
                  <a:lnTo>
                    <a:pt x="3479800" y="2794000"/>
                  </a:lnTo>
                  <a:lnTo>
                    <a:pt x="3509477" y="2788017"/>
                  </a:lnTo>
                  <a:lnTo>
                    <a:pt x="3533696" y="2771696"/>
                  </a:lnTo>
                  <a:lnTo>
                    <a:pt x="3550017" y="2747477"/>
                  </a:lnTo>
                  <a:lnTo>
                    <a:pt x="3556000" y="2717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8000" y="2286000"/>
              <a:ext cx="50800" cy="2794000"/>
            </a:xfrm>
            <a:custGeom>
              <a:avLst/>
              <a:gdLst/>
              <a:ahLst/>
              <a:cxnLst/>
              <a:rect l="l" t="t" r="r" b="b"/>
              <a:pathLst>
                <a:path w="50800" h="2794000">
                  <a:moveTo>
                    <a:pt x="50800" y="0"/>
                  </a:moveTo>
                  <a:lnTo>
                    <a:pt x="0" y="0"/>
                  </a:lnTo>
                  <a:lnTo>
                    <a:pt x="0" y="2794000"/>
                  </a:lnTo>
                  <a:lnTo>
                    <a:pt x="50800" y="2794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33900" y="2384530"/>
            <a:ext cx="3114040" cy="1654492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dirty="0">
                <a:solidFill>
                  <a:srgbClr val="0F2F3A"/>
                </a:solidFill>
                <a:latin typeface="Calibri"/>
                <a:cs typeface="Calibri"/>
              </a:rPr>
              <a:t>Tiempos y fechas </a:t>
            </a:r>
            <a:r>
              <a:rPr sz="1800" b="1" spc="-10" dirty="0">
                <a:solidFill>
                  <a:srgbClr val="0F2F3A"/>
                </a:solidFill>
                <a:latin typeface="Calibri"/>
                <a:cs typeface="Calibri"/>
              </a:rPr>
              <a:t>erróneos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40"/>
              </a:spcBef>
            </a:pP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información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transcribe manualmente</a:t>
            </a:r>
            <a:r>
              <a:rPr sz="15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desde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papel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hacia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SAP,</a:t>
            </a:r>
            <a:r>
              <a:rPr sz="15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lo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qu</a:t>
            </a:r>
            <a:r>
              <a:rPr lang="es-CO" sz="1500" dirty="0">
                <a:solidFill>
                  <a:srgbClr val="2A3A42"/>
                </a:solidFill>
                <a:latin typeface="Calibri"/>
                <a:cs typeface="Calibri"/>
              </a:rPr>
              <a:t>e puede generar perdida de información o mala transcripción de los datos.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28000" y="2286000"/>
            <a:ext cx="3556000" cy="2794000"/>
            <a:chOff x="8128000" y="2286000"/>
            <a:chExt cx="3556000" cy="2794000"/>
          </a:xfrm>
        </p:grpSpPr>
        <p:sp>
          <p:nvSpPr>
            <p:cNvPr id="14" name="object 14"/>
            <p:cNvSpPr/>
            <p:nvPr/>
          </p:nvSpPr>
          <p:spPr>
            <a:xfrm>
              <a:off x="8128000" y="2286000"/>
              <a:ext cx="3556000" cy="2794000"/>
            </a:xfrm>
            <a:custGeom>
              <a:avLst/>
              <a:gdLst/>
              <a:ahLst/>
              <a:cxnLst/>
              <a:rect l="l" t="t" r="r" b="b"/>
              <a:pathLst>
                <a:path w="3556000" h="2794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2717800"/>
                  </a:lnTo>
                  <a:lnTo>
                    <a:pt x="5982" y="2747477"/>
                  </a:lnTo>
                  <a:lnTo>
                    <a:pt x="22303" y="2771696"/>
                  </a:lnTo>
                  <a:lnTo>
                    <a:pt x="46522" y="2788017"/>
                  </a:lnTo>
                  <a:lnTo>
                    <a:pt x="76200" y="2794000"/>
                  </a:lnTo>
                  <a:lnTo>
                    <a:pt x="3479800" y="2794000"/>
                  </a:lnTo>
                  <a:lnTo>
                    <a:pt x="3509477" y="2788017"/>
                  </a:lnTo>
                  <a:lnTo>
                    <a:pt x="3533696" y="2771696"/>
                  </a:lnTo>
                  <a:lnTo>
                    <a:pt x="3550017" y="2747477"/>
                  </a:lnTo>
                  <a:lnTo>
                    <a:pt x="3556000" y="2717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28000" y="2286000"/>
              <a:ext cx="50800" cy="2794000"/>
            </a:xfrm>
            <a:custGeom>
              <a:avLst/>
              <a:gdLst/>
              <a:ahLst/>
              <a:cxnLst/>
              <a:rect l="l" t="t" r="r" b="b"/>
              <a:pathLst>
                <a:path w="50800" h="2794000">
                  <a:moveTo>
                    <a:pt x="50800" y="0"/>
                  </a:moveTo>
                  <a:lnTo>
                    <a:pt x="0" y="0"/>
                  </a:lnTo>
                  <a:lnTo>
                    <a:pt x="0" y="2794000"/>
                  </a:lnTo>
                  <a:lnTo>
                    <a:pt x="50800" y="2794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F2F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43900" y="2384530"/>
            <a:ext cx="2808605" cy="1675267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lang="es-CO" sz="1800" b="1" dirty="0">
                <a:solidFill>
                  <a:srgbClr val="0F2F3A"/>
                </a:solidFill>
                <a:latin typeface="Calibri"/>
                <a:cs typeface="Calibri"/>
              </a:rPr>
              <a:t>Conexión de portátiles externos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40"/>
              </a:spcBef>
            </a:pPr>
            <a:r>
              <a:rPr sz="1500" dirty="0" err="1">
                <a:solidFill>
                  <a:srgbClr val="2A3A42"/>
                </a:solidFill>
                <a:latin typeface="Calibri"/>
                <a:cs typeface="Calibri"/>
              </a:rPr>
              <a:t>Aunque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SAP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exige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credenciales,</a:t>
            </a:r>
            <a:r>
              <a:rPr sz="150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se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permite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conectar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computadores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personales</a:t>
            </a:r>
            <a:r>
              <a:rPr sz="150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50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red</a:t>
            </a:r>
            <a:r>
              <a:rPr sz="15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corporativa</a:t>
            </a:r>
            <a:r>
              <a:rPr sz="1500" spc="-20" dirty="0">
                <a:solidFill>
                  <a:srgbClr val="2A3A42"/>
                </a:solidFill>
                <a:latin typeface="Calibri"/>
                <a:cs typeface="Calibri"/>
              </a:rPr>
              <a:t> para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acceder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A3A42"/>
                </a:solidFill>
                <a:latin typeface="Calibri"/>
                <a:cs typeface="Calibri"/>
              </a:rPr>
              <a:t>al</a:t>
            </a:r>
            <a:r>
              <a:rPr sz="150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A3A42"/>
                </a:solidFill>
                <a:latin typeface="Calibri"/>
                <a:cs typeface="Calibri"/>
              </a:rPr>
              <a:t>sistema.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464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ALCANCE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59239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Marcos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referencia</a:t>
            </a:r>
            <a:r>
              <a:rPr spc="-55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dirty="0"/>
              <a:t>orden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aplicación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8000" y="1397000"/>
            <a:ext cx="3556000" cy="3683000"/>
            <a:chOff x="508000" y="1397000"/>
            <a:chExt cx="3556000" cy="3683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" name="object 5"/>
            <p:cNvSpPr/>
            <p:nvPr/>
          </p:nvSpPr>
          <p:spPr>
            <a:xfrm>
              <a:off x="508000" y="1397000"/>
              <a:ext cx="3556000" cy="3683000"/>
            </a:xfrm>
            <a:custGeom>
              <a:avLst/>
              <a:gdLst/>
              <a:ahLst/>
              <a:cxnLst/>
              <a:rect l="l" t="t" r="r" b="b"/>
              <a:pathLst>
                <a:path w="3556000" h="3683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606800"/>
                  </a:lnTo>
                  <a:lnTo>
                    <a:pt x="5982" y="3636477"/>
                  </a:lnTo>
                  <a:lnTo>
                    <a:pt x="22303" y="3660696"/>
                  </a:lnTo>
                  <a:lnTo>
                    <a:pt x="46522" y="3677017"/>
                  </a:lnTo>
                  <a:lnTo>
                    <a:pt x="76200" y="3683000"/>
                  </a:lnTo>
                  <a:lnTo>
                    <a:pt x="3479800" y="3683000"/>
                  </a:lnTo>
                  <a:lnTo>
                    <a:pt x="3509477" y="3677017"/>
                  </a:lnTo>
                  <a:lnTo>
                    <a:pt x="3533696" y="3660696"/>
                  </a:lnTo>
                  <a:lnTo>
                    <a:pt x="3550017" y="3636477"/>
                  </a:lnTo>
                  <a:lnTo>
                    <a:pt x="3556000" y="3606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36600" y="17272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234079" y="3656"/>
                  </a:lnTo>
                  <a:lnTo>
                    <a:pt x="191088" y="14243"/>
                  </a:lnTo>
                  <a:lnTo>
                    <a:pt x="150999" y="31186"/>
                  </a:lnTo>
                  <a:lnTo>
                    <a:pt x="114390" y="53907"/>
                  </a:lnTo>
                  <a:lnTo>
                    <a:pt x="81834" y="81834"/>
                  </a:lnTo>
                  <a:lnTo>
                    <a:pt x="53908" y="114389"/>
                  </a:lnTo>
                  <a:lnTo>
                    <a:pt x="31186" y="150999"/>
                  </a:lnTo>
                  <a:lnTo>
                    <a:pt x="14244" y="191087"/>
                  </a:lnTo>
                  <a:lnTo>
                    <a:pt x="3656" y="234079"/>
                  </a:lnTo>
                  <a:lnTo>
                    <a:pt x="0" y="279400"/>
                  </a:lnTo>
                  <a:lnTo>
                    <a:pt x="3656" y="324720"/>
                  </a:lnTo>
                  <a:lnTo>
                    <a:pt x="14244" y="367712"/>
                  </a:lnTo>
                  <a:lnTo>
                    <a:pt x="31186" y="407800"/>
                  </a:lnTo>
                  <a:lnTo>
                    <a:pt x="53908" y="444410"/>
                  </a:lnTo>
                  <a:lnTo>
                    <a:pt x="81834" y="476965"/>
                  </a:lnTo>
                  <a:lnTo>
                    <a:pt x="114390" y="504892"/>
                  </a:lnTo>
                  <a:lnTo>
                    <a:pt x="150999" y="527613"/>
                  </a:lnTo>
                  <a:lnTo>
                    <a:pt x="191088" y="544556"/>
                  </a:lnTo>
                  <a:lnTo>
                    <a:pt x="234079" y="555143"/>
                  </a:lnTo>
                  <a:lnTo>
                    <a:pt x="279400" y="558800"/>
                  </a:lnTo>
                  <a:lnTo>
                    <a:pt x="324720" y="555143"/>
                  </a:lnTo>
                  <a:lnTo>
                    <a:pt x="367711" y="544556"/>
                  </a:lnTo>
                  <a:lnTo>
                    <a:pt x="407800" y="527613"/>
                  </a:lnTo>
                  <a:lnTo>
                    <a:pt x="444409" y="504892"/>
                  </a:lnTo>
                  <a:lnTo>
                    <a:pt x="476965" y="476965"/>
                  </a:lnTo>
                  <a:lnTo>
                    <a:pt x="504891" y="444410"/>
                  </a:lnTo>
                  <a:lnTo>
                    <a:pt x="527613" y="407800"/>
                  </a:lnTo>
                  <a:lnTo>
                    <a:pt x="544555" y="367712"/>
                  </a:lnTo>
                  <a:lnTo>
                    <a:pt x="555143" y="324720"/>
                  </a:lnTo>
                  <a:lnTo>
                    <a:pt x="558800" y="279400"/>
                  </a:lnTo>
                  <a:lnTo>
                    <a:pt x="555143" y="234079"/>
                  </a:lnTo>
                  <a:lnTo>
                    <a:pt x="544555" y="191087"/>
                  </a:lnTo>
                  <a:lnTo>
                    <a:pt x="527613" y="150999"/>
                  </a:lnTo>
                  <a:lnTo>
                    <a:pt x="504891" y="114389"/>
                  </a:lnTo>
                  <a:lnTo>
                    <a:pt x="476965" y="81834"/>
                  </a:lnTo>
                  <a:lnTo>
                    <a:pt x="444409" y="53907"/>
                  </a:lnTo>
                  <a:lnTo>
                    <a:pt x="407800" y="31186"/>
                  </a:lnTo>
                  <a:lnTo>
                    <a:pt x="367711" y="14243"/>
                  </a:lnTo>
                  <a:lnTo>
                    <a:pt x="324720" y="3656"/>
                  </a:lnTo>
                  <a:lnTo>
                    <a:pt x="2794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2494" y="1785620"/>
            <a:ext cx="1670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" y="2288539"/>
            <a:ext cx="2995930" cy="124460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solidFill>
                  <a:srgbClr val="0F2F3A"/>
                </a:solidFill>
                <a:latin typeface="Calibri"/>
                <a:cs typeface="Calibri"/>
              </a:rPr>
              <a:t>COBIT</a:t>
            </a:r>
            <a:r>
              <a:rPr sz="2400" b="1" spc="-6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F2F3A"/>
                </a:solidFill>
                <a:latin typeface="Calibri"/>
                <a:cs typeface="Calibri"/>
              </a:rPr>
              <a:t>2019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4200"/>
              </a:lnSpc>
              <a:spcBef>
                <a:spcPts val="1040"/>
              </a:spcBef>
            </a:pP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Controles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procesos</a:t>
            </a:r>
            <a:r>
              <a:rPr sz="1600" b="1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negocio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2A3A42"/>
                </a:solidFill>
                <a:latin typeface="Calibri"/>
                <a:cs typeface="Calibri"/>
              </a:rPr>
              <a:t>y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calidad de 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datos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14800" y="31369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0"/>
                </a:moveTo>
                <a:lnTo>
                  <a:pt x="0" y="203200"/>
                </a:lnTo>
                <a:lnTo>
                  <a:pt x="15240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1" name="object 11"/>
          <p:cNvGrpSpPr/>
          <p:nvPr/>
        </p:nvGrpSpPr>
        <p:grpSpPr>
          <a:xfrm>
            <a:off x="4318000" y="1397000"/>
            <a:ext cx="3556000" cy="3683000"/>
            <a:chOff x="4318000" y="1397000"/>
            <a:chExt cx="3556000" cy="3683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" name="object 12"/>
            <p:cNvSpPr/>
            <p:nvPr/>
          </p:nvSpPr>
          <p:spPr>
            <a:xfrm>
              <a:off x="4318000" y="1397000"/>
              <a:ext cx="3556000" cy="3683000"/>
            </a:xfrm>
            <a:custGeom>
              <a:avLst/>
              <a:gdLst/>
              <a:ahLst/>
              <a:cxnLst/>
              <a:rect l="l" t="t" r="r" b="b"/>
              <a:pathLst>
                <a:path w="3556000" h="3683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606800"/>
                  </a:lnTo>
                  <a:lnTo>
                    <a:pt x="5982" y="3636477"/>
                  </a:lnTo>
                  <a:lnTo>
                    <a:pt x="22303" y="3660696"/>
                  </a:lnTo>
                  <a:lnTo>
                    <a:pt x="46522" y="3677017"/>
                  </a:lnTo>
                  <a:lnTo>
                    <a:pt x="76200" y="3683000"/>
                  </a:lnTo>
                  <a:lnTo>
                    <a:pt x="3479800" y="3683000"/>
                  </a:lnTo>
                  <a:lnTo>
                    <a:pt x="3509477" y="3677017"/>
                  </a:lnTo>
                  <a:lnTo>
                    <a:pt x="3533696" y="3660696"/>
                  </a:lnTo>
                  <a:lnTo>
                    <a:pt x="3550017" y="3636477"/>
                  </a:lnTo>
                  <a:lnTo>
                    <a:pt x="3556000" y="3606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546600" y="17272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234079" y="3656"/>
                  </a:lnTo>
                  <a:lnTo>
                    <a:pt x="191087" y="14243"/>
                  </a:lnTo>
                  <a:lnTo>
                    <a:pt x="150999" y="31186"/>
                  </a:lnTo>
                  <a:lnTo>
                    <a:pt x="114389" y="53907"/>
                  </a:lnTo>
                  <a:lnTo>
                    <a:pt x="81834" y="81834"/>
                  </a:lnTo>
                  <a:lnTo>
                    <a:pt x="53907" y="114389"/>
                  </a:lnTo>
                  <a:lnTo>
                    <a:pt x="31186" y="150999"/>
                  </a:lnTo>
                  <a:lnTo>
                    <a:pt x="14243" y="191087"/>
                  </a:lnTo>
                  <a:lnTo>
                    <a:pt x="3656" y="234079"/>
                  </a:lnTo>
                  <a:lnTo>
                    <a:pt x="0" y="279400"/>
                  </a:lnTo>
                  <a:lnTo>
                    <a:pt x="3656" y="324720"/>
                  </a:lnTo>
                  <a:lnTo>
                    <a:pt x="14243" y="367712"/>
                  </a:lnTo>
                  <a:lnTo>
                    <a:pt x="31186" y="407800"/>
                  </a:lnTo>
                  <a:lnTo>
                    <a:pt x="53907" y="444410"/>
                  </a:lnTo>
                  <a:lnTo>
                    <a:pt x="81834" y="476965"/>
                  </a:lnTo>
                  <a:lnTo>
                    <a:pt x="114389" y="504892"/>
                  </a:lnTo>
                  <a:lnTo>
                    <a:pt x="150999" y="527613"/>
                  </a:lnTo>
                  <a:lnTo>
                    <a:pt x="191087" y="544556"/>
                  </a:lnTo>
                  <a:lnTo>
                    <a:pt x="234079" y="555143"/>
                  </a:lnTo>
                  <a:lnTo>
                    <a:pt x="279400" y="558800"/>
                  </a:lnTo>
                  <a:lnTo>
                    <a:pt x="324720" y="555143"/>
                  </a:lnTo>
                  <a:lnTo>
                    <a:pt x="367712" y="544556"/>
                  </a:lnTo>
                  <a:lnTo>
                    <a:pt x="407800" y="527613"/>
                  </a:lnTo>
                  <a:lnTo>
                    <a:pt x="444410" y="504892"/>
                  </a:lnTo>
                  <a:lnTo>
                    <a:pt x="476965" y="476965"/>
                  </a:lnTo>
                  <a:lnTo>
                    <a:pt x="504892" y="444410"/>
                  </a:lnTo>
                  <a:lnTo>
                    <a:pt x="527613" y="407800"/>
                  </a:lnTo>
                  <a:lnTo>
                    <a:pt x="544556" y="367712"/>
                  </a:lnTo>
                  <a:lnTo>
                    <a:pt x="555143" y="324720"/>
                  </a:lnTo>
                  <a:lnTo>
                    <a:pt x="558800" y="279400"/>
                  </a:lnTo>
                  <a:lnTo>
                    <a:pt x="555143" y="234079"/>
                  </a:lnTo>
                  <a:lnTo>
                    <a:pt x="544556" y="191087"/>
                  </a:lnTo>
                  <a:lnTo>
                    <a:pt x="527613" y="150999"/>
                  </a:lnTo>
                  <a:lnTo>
                    <a:pt x="504892" y="114389"/>
                  </a:lnTo>
                  <a:lnTo>
                    <a:pt x="476965" y="81834"/>
                  </a:lnTo>
                  <a:lnTo>
                    <a:pt x="444410" y="53907"/>
                  </a:lnTo>
                  <a:lnTo>
                    <a:pt x="407800" y="31186"/>
                  </a:lnTo>
                  <a:lnTo>
                    <a:pt x="367712" y="14243"/>
                  </a:lnTo>
                  <a:lnTo>
                    <a:pt x="324720" y="3656"/>
                  </a:lnTo>
                  <a:lnTo>
                    <a:pt x="2794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42495" y="1785620"/>
            <a:ext cx="1670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59300" y="2288539"/>
            <a:ext cx="2534920" cy="124460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solidFill>
                  <a:srgbClr val="0F2F3A"/>
                </a:solidFill>
                <a:latin typeface="Calibri"/>
                <a:cs typeface="Calibri"/>
              </a:rPr>
              <a:t>ISO/IEC</a:t>
            </a:r>
            <a:r>
              <a:rPr sz="2400" b="1" spc="-8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F2F3A"/>
                </a:solidFill>
                <a:latin typeface="Calibri"/>
                <a:cs typeface="Calibri"/>
              </a:rPr>
              <a:t>27001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4200"/>
              </a:lnSpc>
              <a:spcBef>
                <a:spcPts val="1040"/>
              </a:spcBef>
            </a:pP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Seguridad</a:t>
            </a:r>
            <a:r>
              <a:rPr sz="1600" b="1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600" b="1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información</a:t>
            </a:r>
            <a:r>
              <a:rPr sz="1600" b="1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2A3A42"/>
                </a:solidFill>
                <a:latin typeface="Calibri"/>
                <a:cs typeface="Calibri"/>
              </a:rPr>
              <a:t>y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control</a:t>
            </a:r>
            <a:r>
              <a:rPr sz="160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60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redes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24800" y="31369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0"/>
                </a:moveTo>
                <a:lnTo>
                  <a:pt x="0" y="203200"/>
                </a:lnTo>
                <a:lnTo>
                  <a:pt x="15240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8"/>
          <p:cNvGrpSpPr/>
          <p:nvPr/>
        </p:nvGrpSpPr>
        <p:grpSpPr>
          <a:xfrm>
            <a:off x="8128000" y="1397000"/>
            <a:ext cx="3556000" cy="3683000"/>
            <a:chOff x="8128000" y="1397000"/>
            <a:chExt cx="3556000" cy="3683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9" name="object 19"/>
            <p:cNvSpPr/>
            <p:nvPr/>
          </p:nvSpPr>
          <p:spPr>
            <a:xfrm>
              <a:off x="8128000" y="1397000"/>
              <a:ext cx="3556000" cy="3683000"/>
            </a:xfrm>
            <a:custGeom>
              <a:avLst/>
              <a:gdLst/>
              <a:ahLst/>
              <a:cxnLst/>
              <a:rect l="l" t="t" r="r" b="b"/>
              <a:pathLst>
                <a:path w="3556000" h="3683000">
                  <a:moveTo>
                    <a:pt x="347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606800"/>
                  </a:lnTo>
                  <a:lnTo>
                    <a:pt x="5982" y="3636477"/>
                  </a:lnTo>
                  <a:lnTo>
                    <a:pt x="22303" y="3660696"/>
                  </a:lnTo>
                  <a:lnTo>
                    <a:pt x="46522" y="3677017"/>
                  </a:lnTo>
                  <a:lnTo>
                    <a:pt x="76200" y="3683000"/>
                  </a:lnTo>
                  <a:lnTo>
                    <a:pt x="3479800" y="3683000"/>
                  </a:lnTo>
                  <a:lnTo>
                    <a:pt x="3509477" y="3677017"/>
                  </a:lnTo>
                  <a:lnTo>
                    <a:pt x="3533696" y="3660696"/>
                  </a:lnTo>
                  <a:lnTo>
                    <a:pt x="3550017" y="3636477"/>
                  </a:lnTo>
                  <a:lnTo>
                    <a:pt x="3556000" y="3606800"/>
                  </a:lnTo>
                  <a:lnTo>
                    <a:pt x="3556000" y="76200"/>
                  </a:lnTo>
                  <a:lnTo>
                    <a:pt x="3550017" y="46522"/>
                  </a:lnTo>
                  <a:lnTo>
                    <a:pt x="3533696" y="22303"/>
                  </a:lnTo>
                  <a:lnTo>
                    <a:pt x="3509477" y="5982"/>
                  </a:lnTo>
                  <a:lnTo>
                    <a:pt x="34798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8356600" y="17272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234079" y="3656"/>
                  </a:lnTo>
                  <a:lnTo>
                    <a:pt x="191087" y="14243"/>
                  </a:lnTo>
                  <a:lnTo>
                    <a:pt x="150999" y="31186"/>
                  </a:lnTo>
                  <a:lnTo>
                    <a:pt x="114389" y="53907"/>
                  </a:lnTo>
                  <a:lnTo>
                    <a:pt x="81834" y="81834"/>
                  </a:lnTo>
                  <a:lnTo>
                    <a:pt x="53907" y="114389"/>
                  </a:lnTo>
                  <a:lnTo>
                    <a:pt x="31186" y="150999"/>
                  </a:lnTo>
                  <a:lnTo>
                    <a:pt x="14243" y="191087"/>
                  </a:lnTo>
                  <a:lnTo>
                    <a:pt x="3656" y="234079"/>
                  </a:lnTo>
                  <a:lnTo>
                    <a:pt x="0" y="279400"/>
                  </a:lnTo>
                  <a:lnTo>
                    <a:pt x="3656" y="324720"/>
                  </a:lnTo>
                  <a:lnTo>
                    <a:pt x="14243" y="367712"/>
                  </a:lnTo>
                  <a:lnTo>
                    <a:pt x="31186" y="407800"/>
                  </a:lnTo>
                  <a:lnTo>
                    <a:pt x="53907" y="444410"/>
                  </a:lnTo>
                  <a:lnTo>
                    <a:pt x="81834" y="476965"/>
                  </a:lnTo>
                  <a:lnTo>
                    <a:pt x="114389" y="504892"/>
                  </a:lnTo>
                  <a:lnTo>
                    <a:pt x="150999" y="527613"/>
                  </a:lnTo>
                  <a:lnTo>
                    <a:pt x="191087" y="544556"/>
                  </a:lnTo>
                  <a:lnTo>
                    <a:pt x="234079" y="555143"/>
                  </a:lnTo>
                  <a:lnTo>
                    <a:pt x="279400" y="558800"/>
                  </a:lnTo>
                  <a:lnTo>
                    <a:pt x="324720" y="555143"/>
                  </a:lnTo>
                  <a:lnTo>
                    <a:pt x="367712" y="544556"/>
                  </a:lnTo>
                  <a:lnTo>
                    <a:pt x="407800" y="527613"/>
                  </a:lnTo>
                  <a:lnTo>
                    <a:pt x="444410" y="504892"/>
                  </a:lnTo>
                  <a:lnTo>
                    <a:pt x="476965" y="476965"/>
                  </a:lnTo>
                  <a:lnTo>
                    <a:pt x="504892" y="444410"/>
                  </a:lnTo>
                  <a:lnTo>
                    <a:pt x="527613" y="407800"/>
                  </a:lnTo>
                  <a:lnTo>
                    <a:pt x="544556" y="367712"/>
                  </a:lnTo>
                  <a:lnTo>
                    <a:pt x="555143" y="324720"/>
                  </a:lnTo>
                  <a:lnTo>
                    <a:pt x="558800" y="279400"/>
                  </a:lnTo>
                  <a:lnTo>
                    <a:pt x="555143" y="234079"/>
                  </a:lnTo>
                  <a:lnTo>
                    <a:pt x="544556" y="191087"/>
                  </a:lnTo>
                  <a:lnTo>
                    <a:pt x="527613" y="150999"/>
                  </a:lnTo>
                  <a:lnTo>
                    <a:pt x="504892" y="114389"/>
                  </a:lnTo>
                  <a:lnTo>
                    <a:pt x="476965" y="81834"/>
                  </a:lnTo>
                  <a:lnTo>
                    <a:pt x="444410" y="53907"/>
                  </a:lnTo>
                  <a:lnTo>
                    <a:pt x="407800" y="31186"/>
                  </a:lnTo>
                  <a:lnTo>
                    <a:pt x="367712" y="14243"/>
                  </a:lnTo>
                  <a:lnTo>
                    <a:pt x="324720" y="3656"/>
                  </a:lnTo>
                  <a:lnTo>
                    <a:pt x="2794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52495" y="1785620"/>
            <a:ext cx="1670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69300" y="2288539"/>
            <a:ext cx="2668270" cy="124460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solidFill>
                  <a:srgbClr val="0F2F3A"/>
                </a:solidFill>
                <a:latin typeface="Calibri"/>
                <a:cs typeface="Calibri"/>
              </a:rPr>
              <a:t>ITIL </a:t>
            </a:r>
            <a:r>
              <a:rPr sz="2400" b="1" spc="-50" dirty="0">
                <a:solidFill>
                  <a:srgbClr val="0F2F3A"/>
                </a:solidFill>
                <a:latin typeface="Calibri"/>
                <a:cs typeface="Calibri"/>
              </a:rPr>
              <a:t>4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4200"/>
              </a:lnSpc>
              <a:spcBef>
                <a:spcPts val="1040"/>
              </a:spcBef>
            </a:pP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Diseño</a:t>
            </a:r>
            <a:r>
              <a:rPr sz="1600" b="1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servicio</a:t>
            </a:r>
            <a:r>
              <a:rPr sz="1600" b="1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A3A42"/>
                </a:solidFill>
                <a:latin typeface="Calibri"/>
                <a:cs typeface="Calibri"/>
              </a:rPr>
              <a:t>gestión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2A3A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2A3A42"/>
                </a:solidFill>
                <a:latin typeface="Calibri"/>
                <a:cs typeface="Calibri"/>
              </a:rPr>
              <a:t>problemas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50806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Justificación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dirty="0"/>
              <a:t>elección</a:t>
            </a:r>
            <a:r>
              <a:rPr spc="-50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dirty="0"/>
              <a:t>el</a:t>
            </a:r>
            <a:r>
              <a:rPr spc="-50" dirty="0"/>
              <a:t> </a:t>
            </a:r>
            <a:r>
              <a:rPr spc="-10" dirty="0"/>
              <a:t>orden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8000" y="1270000"/>
            <a:ext cx="11176000" cy="1498600"/>
            <a:chOff x="508000" y="1270000"/>
            <a:chExt cx="11176000" cy="1498600"/>
          </a:xfrm>
        </p:grpSpPr>
        <p:sp>
          <p:nvSpPr>
            <p:cNvPr id="5" name="object 5"/>
            <p:cNvSpPr/>
            <p:nvPr/>
          </p:nvSpPr>
          <p:spPr>
            <a:xfrm>
              <a:off x="508000" y="1270000"/>
              <a:ext cx="11176000" cy="1498600"/>
            </a:xfrm>
            <a:custGeom>
              <a:avLst/>
              <a:gdLst/>
              <a:ahLst/>
              <a:cxnLst/>
              <a:rect l="l" t="t" r="r" b="b"/>
              <a:pathLst>
                <a:path w="11176000" h="1498600">
                  <a:moveTo>
                    <a:pt x="1109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11099800" y="1498600"/>
                  </a:lnTo>
                  <a:lnTo>
                    <a:pt x="11129477" y="1492617"/>
                  </a:lnTo>
                  <a:lnTo>
                    <a:pt x="11153696" y="1476296"/>
                  </a:lnTo>
                  <a:lnTo>
                    <a:pt x="11170017" y="1452077"/>
                  </a:lnTo>
                  <a:lnTo>
                    <a:pt x="11176000" y="1422400"/>
                  </a:lnTo>
                  <a:lnTo>
                    <a:pt x="11176000" y="76200"/>
                  </a:lnTo>
                  <a:lnTo>
                    <a:pt x="11170017" y="46522"/>
                  </a:lnTo>
                  <a:lnTo>
                    <a:pt x="11153696" y="22303"/>
                  </a:lnTo>
                  <a:lnTo>
                    <a:pt x="11129477" y="5982"/>
                  </a:lnTo>
                  <a:lnTo>
                    <a:pt x="1109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08000" y="1270000"/>
              <a:ext cx="63500" cy="1498600"/>
            </a:xfrm>
            <a:custGeom>
              <a:avLst/>
              <a:gdLst/>
              <a:ahLst/>
              <a:cxnLst/>
              <a:rect l="l" t="t" r="r" b="b"/>
              <a:pathLst>
                <a:path w="63500" h="1498600">
                  <a:moveTo>
                    <a:pt x="635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63500" y="1498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872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5500" y="1551940"/>
            <a:ext cx="244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0" dirty="0">
                <a:solidFill>
                  <a:srgbClr val="D8721A"/>
                </a:solidFill>
                <a:latin typeface="Calibri"/>
                <a:cs typeface="Calibri"/>
              </a:rPr>
              <a:t>1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300" y="1460500"/>
            <a:ext cx="11791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0F2F3A"/>
                </a:solidFill>
                <a:latin typeface="Calibri"/>
                <a:cs typeface="Calibri"/>
              </a:rPr>
              <a:t>COBIT </a:t>
            </a:r>
            <a:r>
              <a:rPr sz="1900" b="1" spc="-20" dirty="0">
                <a:solidFill>
                  <a:srgbClr val="0F2F3A"/>
                </a:solidFill>
                <a:latin typeface="Calibri"/>
                <a:cs typeface="Calibri"/>
              </a:rPr>
              <a:t>2019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0300" y="1386839"/>
            <a:ext cx="75114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riesgo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más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inminente</a:t>
            </a:r>
            <a:r>
              <a:rPr lang="es-CO" sz="135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puede</a:t>
            </a:r>
            <a:r>
              <a:rPr lang="es-CO" sz="1350" dirty="0">
                <a:solidFill>
                  <a:srgbClr val="2A3A42"/>
                </a:solidFill>
                <a:latin typeface="Calibri"/>
                <a:cs typeface="Calibri"/>
              </a:rPr>
              <a:t> generar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lang="es-CO" sz="1350" dirty="0">
                <a:solidFill>
                  <a:srgbClr val="2A3A42"/>
                </a:solidFill>
                <a:latin typeface="Calibri"/>
                <a:cs typeface="Calibri"/>
              </a:rPr>
              <a:t>reprocesos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sanciones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legales,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es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falta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trazabilidad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repuestos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críticos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.</a:t>
            </a:r>
            <a:r>
              <a:rPr lang="es-CO" sz="1350" spc="-35" dirty="0">
                <a:solidFill>
                  <a:srgbClr val="2A3A42"/>
                </a:solidFill>
                <a:latin typeface="Calibri"/>
                <a:cs typeface="Calibri"/>
              </a:rPr>
              <a:t> L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ausencia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controles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aplicación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(campos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obligatorios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para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seriales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ausencia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un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workflow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aprobación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supervisor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antes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cierre).</a:t>
            </a:r>
            <a:endParaRPr sz="135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8000" y="2946400"/>
            <a:ext cx="11176000" cy="1498600"/>
            <a:chOff x="508000" y="2946400"/>
            <a:chExt cx="11176000" cy="1498600"/>
          </a:xfrm>
        </p:grpSpPr>
        <p:sp>
          <p:nvSpPr>
            <p:cNvPr id="11" name="object 11"/>
            <p:cNvSpPr/>
            <p:nvPr/>
          </p:nvSpPr>
          <p:spPr>
            <a:xfrm>
              <a:off x="508000" y="2946400"/>
              <a:ext cx="11176000" cy="1498600"/>
            </a:xfrm>
            <a:custGeom>
              <a:avLst/>
              <a:gdLst/>
              <a:ahLst/>
              <a:cxnLst/>
              <a:rect l="l" t="t" r="r" b="b"/>
              <a:pathLst>
                <a:path w="11176000" h="1498600">
                  <a:moveTo>
                    <a:pt x="1109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11099800" y="1498600"/>
                  </a:lnTo>
                  <a:lnTo>
                    <a:pt x="11129477" y="1492617"/>
                  </a:lnTo>
                  <a:lnTo>
                    <a:pt x="11153696" y="1476296"/>
                  </a:lnTo>
                  <a:lnTo>
                    <a:pt x="11170017" y="1452077"/>
                  </a:lnTo>
                  <a:lnTo>
                    <a:pt x="11176000" y="1422400"/>
                  </a:lnTo>
                  <a:lnTo>
                    <a:pt x="11176000" y="76200"/>
                  </a:lnTo>
                  <a:lnTo>
                    <a:pt x="11170017" y="46522"/>
                  </a:lnTo>
                  <a:lnTo>
                    <a:pt x="11153696" y="22303"/>
                  </a:lnTo>
                  <a:lnTo>
                    <a:pt x="11129477" y="5982"/>
                  </a:lnTo>
                  <a:lnTo>
                    <a:pt x="1109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08000" y="2946400"/>
              <a:ext cx="63500" cy="1498600"/>
            </a:xfrm>
            <a:custGeom>
              <a:avLst/>
              <a:gdLst/>
              <a:ahLst/>
              <a:cxnLst/>
              <a:rect l="l" t="t" r="r" b="b"/>
              <a:pathLst>
                <a:path w="63500" h="1498600">
                  <a:moveTo>
                    <a:pt x="635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63500" y="1498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5500" y="3228339"/>
            <a:ext cx="244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0" dirty="0">
                <a:solidFill>
                  <a:srgbClr val="13956B"/>
                </a:solidFill>
                <a:latin typeface="Calibri"/>
                <a:cs typeface="Calibri"/>
              </a:rPr>
              <a:t>2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4300" y="3136900"/>
            <a:ext cx="14465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0F2F3A"/>
                </a:solidFill>
                <a:latin typeface="Calibri"/>
                <a:cs typeface="Calibri"/>
              </a:rPr>
              <a:t>ISO/IEC</a:t>
            </a:r>
            <a:r>
              <a:rPr sz="1900" b="1" spc="-6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0F2F3A"/>
                </a:solidFill>
                <a:latin typeface="Calibri"/>
                <a:cs typeface="Calibri"/>
              </a:rPr>
              <a:t>27001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0300" y="3063239"/>
            <a:ext cx="7718425" cy="4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100"/>
              </a:spcBef>
            </a:pP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Evaluados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controles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software,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audita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infraestructura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soporta.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Un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equipo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personal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infectado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red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empresarial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puede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inyectar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ransomware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o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usar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keyloggers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para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robar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credenciales</a:t>
            </a:r>
            <a:r>
              <a:rPr lang="es-CO" sz="1350" dirty="0">
                <a:solidFill>
                  <a:srgbClr val="2A3A42"/>
                </a:solidFill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8000" y="4622800"/>
            <a:ext cx="11176000" cy="1498600"/>
            <a:chOff x="508000" y="4622800"/>
            <a:chExt cx="11176000" cy="1498600"/>
          </a:xfrm>
        </p:grpSpPr>
        <p:sp>
          <p:nvSpPr>
            <p:cNvPr id="17" name="object 17"/>
            <p:cNvSpPr/>
            <p:nvPr/>
          </p:nvSpPr>
          <p:spPr>
            <a:xfrm>
              <a:off x="508000" y="4622800"/>
              <a:ext cx="11176000" cy="1498600"/>
            </a:xfrm>
            <a:custGeom>
              <a:avLst/>
              <a:gdLst/>
              <a:ahLst/>
              <a:cxnLst/>
              <a:rect l="l" t="t" r="r" b="b"/>
              <a:pathLst>
                <a:path w="11176000" h="1498600">
                  <a:moveTo>
                    <a:pt x="1109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11099800" y="1498600"/>
                  </a:lnTo>
                  <a:lnTo>
                    <a:pt x="11129477" y="1492617"/>
                  </a:lnTo>
                  <a:lnTo>
                    <a:pt x="11153696" y="1476296"/>
                  </a:lnTo>
                  <a:lnTo>
                    <a:pt x="11170017" y="1452077"/>
                  </a:lnTo>
                  <a:lnTo>
                    <a:pt x="11176000" y="1422400"/>
                  </a:lnTo>
                  <a:lnTo>
                    <a:pt x="11176000" y="76200"/>
                  </a:lnTo>
                  <a:lnTo>
                    <a:pt x="11170017" y="46522"/>
                  </a:lnTo>
                  <a:lnTo>
                    <a:pt x="11153696" y="22303"/>
                  </a:lnTo>
                  <a:lnTo>
                    <a:pt x="11129477" y="5982"/>
                  </a:lnTo>
                  <a:lnTo>
                    <a:pt x="1109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8000" y="4622800"/>
              <a:ext cx="63500" cy="1498600"/>
            </a:xfrm>
            <a:custGeom>
              <a:avLst/>
              <a:gdLst/>
              <a:ahLst/>
              <a:cxnLst/>
              <a:rect l="l" t="t" r="r" b="b"/>
              <a:pathLst>
                <a:path w="63500" h="1498600">
                  <a:moveTo>
                    <a:pt x="635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63500" y="1498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0F2F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5500" y="4904740"/>
            <a:ext cx="244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0" dirty="0">
                <a:solidFill>
                  <a:srgbClr val="0F2F3A"/>
                </a:solidFill>
                <a:latin typeface="Calibri"/>
                <a:cs typeface="Calibri"/>
              </a:rPr>
              <a:t>3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4300" y="4813300"/>
            <a:ext cx="5524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0F2F3A"/>
                </a:solidFill>
                <a:latin typeface="Calibri"/>
                <a:cs typeface="Calibri"/>
              </a:rPr>
              <a:t>ITIL</a:t>
            </a:r>
            <a:r>
              <a:rPr sz="1900" b="1" spc="-3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0F2F3A"/>
                </a:solidFill>
                <a:latin typeface="Calibri"/>
                <a:cs typeface="Calibri"/>
              </a:rPr>
              <a:t>4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70300" y="4739640"/>
            <a:ext cx="7772400" cy="4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3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aborda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factor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humano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operativo:</a:t>
            </a:r>
            <a:r>
              <a:rPr sz="13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errores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tiempos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3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datos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vacíos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son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síntoma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un</a:t>
            </a:r>
            <a:r>
              <a:rPr sz="13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mal</a:t>
            </a:r>
            <a:r>
              <a:rPr sz="13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diseño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servicio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(doble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digitación</a:t>
            </a:r>
            <a:r>
              <a:rPr lang="es-CO" sz="1350" spc="-20" dirty="0">
                <a:solidFill>
                  <a:srgbClr val="2A3A42"/>
                </a:solidFill>
                <a:latin typeface="Calibri"/>
                <a:cs typeface="Calibri"/>
              </a:rPr>
              <a:t>: </a:t>
            </a:r>
            <a:r>
              <a:rPr sz="1350" dirty="0" err="1">
                <a:solidFill>
                  <a:srgbClr val="2A3A42"/>
                </a:solidFill>
                <a:latin typeface="Calibri"/>
                <a:cs typeface="Calibri"/>
              </a:rPr>
              <a:t>papel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lang="es-CO" sz="1350" spc="-20" dirty="0">
                <a:solidFill>
                  <a:srgbClr val="2A3A42"/>
                </a:solidFill>
                <a:latin typeface="Calibri"/>
                <a:cs typeface="Calibri"/>
              </a:rPr>
              <a:t>-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PC).</a:t>
            </a:r>
            <a:r>
              <a:rPr lang="es-CO"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901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PLAN DE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PRUEBAS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68433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Evidencia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 err="1"/>
              <a:t>solicitar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508000" y="1270000"/>
            <a:ext cx="3556000" cy="431800"/>
          </a:xfrm>
          <a:custGeom>
            <a:avLst/>
            <a:gdLst/>
            <a:ahLst/>
            <a:cxnLst/>
            <a:rect l="l" t="t" r="r" b="b"/>
            <a:pathLst>
              <a:path w="3556000" h="4318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68300"/>
                </a:lnTo>
                <a:lnTo>
                  <a:pt x="4985" y="393030"/>
                </a:lnTo>
                <a:lnTo>
                  <a:pt x="18586" y="413213"/>
                </a:lnTo>
                <a:lnTo>
                  <a:pt x="38769" y="426814"/>
                </a:lnTo>
                <a:lnTo>
                  <a:pt x="63500" y="431800"/>
                </a:lnTo>
                <a:lnTo>
                  <a:pt x="3492500" y="431800"/>
                </a:lnTo>
                <a:lnTo>
                  <a:pt x="3517230" y="426814"/>
                </a:lnTo>
                <a:lnTo>
                  <a:pt x="3537413" y="413213"/>
                </a:lnTo>
                <a:lnTo>
                  <a:pt x="3551014" y="393030"/>
                </a:lnTo>
                <a:lnTo>
                  <a:pt x="3556000" y="3683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D872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73100" y="1333500"/>
            <a:ext cx="9366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COBIT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8000" y="1905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73100" y="1947468"/>
            <a:ext cx="3070225" cy="94673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509"/>
              </a:spcBef>
            </a:pP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Capturas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o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reportes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muestren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si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"Equipo/Serial"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 y "Tiempos" son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campos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obligatorios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las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clases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orden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preventiva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A3A42"/>
                </a:solidFill>
                <a:latin typeface="Calibri"/>
                <a:cs typeface="Calibri"/>
              </a:rPr>
              <a:t>y </a:t>
            </a: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correctiva</a:t>
            </a:r>
            <a:r>
              <a:rPr lang="es-CO" sz="1250" dirty="0">
                <a:solidFill>
                  <a:srgbClr val="2A3A42"/>
                </a:solidFill>
                <a:latin typeface="Calibri"/>
                <a:cs typeface="Calibri"/>
              </a:rPr>
              <a:t>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8000" y="4064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73100" y="4106468"/>
            <a:ext cx="3186430" cy="73513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509"/>
              </a:spcBef>
            </a:pP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Muestra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50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órdenes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telecabinas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liquidadas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último</a:t>
            </a:r>
            <a:r>
              <a:rPr lang="es-CO" sz="1250" spc="-20" dirty="0">
                <a:solidFill>
                  <a:srgbClr val="2A3A42"/>
                </a:solidFill>
                <a:latin typeface="Calibri"/>
                <a:cs typeface="Calibri"/>
              </a:rPr>
              <a:t> año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para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medir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campos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vacíos,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tiempos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ilógicos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cierres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sin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supervisión.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18000" y="1270000"/>
            <a:ext cx="3556000" cy="431800"/>
          </a:xfrm>
          <a:custGeom>
            <a:avLst/>
            <a:gdLst/>
            <a:ahLst/>
            <a:cxnLst/>
            <a:rect l="l" t="t" r="r" b="b"/>
            <a:pathLst>
              <a:path w="3556000" h="4318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68300"/>
                </a:lnTo>
                <a:lnTo>
                  <a:pt x="4985" y="393030"/>
                </a:lnTo>
                <a:lnTo>
                  <a:pt x="18586" y="413213"/>
                </a:lnTo>
                <a:lnTo>
                  <a:pt x="38769" y="426814"/>
                </a:lnTo>
                <a:lnTo>
                  <a:pt x="63500" y="431800"/>
                </a:lnTo>
                <a:lnTo>
                  <a:pt x="3492500" y="431800"/>
                </a:lnTo>
                <a:lnTo>
                  <a:pt x="3517230" y="426814"/>
                </a:lnTo>
                <a:lnTo>
                  <a:pt x="3537413" y="413213"/>
                </a:lnTo>
                <a:lnTo>
                  <a:pt x="3551014" y="393030"/>
                </a:lnTo>
                <a:lnTo>
                  <a:pt x="3556000" y="3683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4483100" y="1333500"/>
            <a:ext cx="1147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ISO/IEC</a:t>
            </a: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27001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18000" y="1905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4483100" y="1947468"/>
            <a:ext cx="3014345" cy="73513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509"/>
              </a:spcBef>
            </a:pP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Configuración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switches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 err="1">
                <a:solidFill>
                  <a:srgbClr val="2A3A42"/>
                </a:solidFill>
                <a:latin typeface="Calibri"/>
                <a:cs typeface="Calibri"/>
              </a:rPr>
              <a:t>talleres</a:t>
            </a:r>
            <a:r>
              <a:rPr lang="es-CO" sz="1250" spc="-10" dirty="0">
                <a:solidFill>
                  <a:srgbClr val="2A3A42"/>
                </a:solidFill>
                <a:latin typeface="Calibri"/>
                <a:cs typeface="Calibri"/>
              </a:rPr>
              <a:t>: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filtrado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MAC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limite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conexión</a:t>
            </a:r>
            <a:r>
              <a:rPr sz="12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A3A42"/>
                </a:solidFill>
                <a:latin typeface="Calibri"/>
                <a:cs typeface="Calibri"/>
              </a:rPr>
              <a:t>a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equipos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dominio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Metro.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18000" y="4064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4483100" y="4106468"/>
            <a:ext cx="3147060" cy="10375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450" b="1" dirty="0">
                <a:solidFill>
                  <a:srgbClr val="0F2F3A"/>
                </a:solidFill>
                <a:latin typeface="Calibri"/>
                <a:cs typeface="Calibri"/>
              </a:rPr>
              <a:t>Políticas</a:t>
            </a:r>
            <a:r>
              <a:rPr sz="145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F2F3A"/>
                </a:solidFill>
                <a:latin typeface="Calibri"/>
                <a:cs typeface="Calibri"/>
              </a:rPr>
              <a:t>BYOD y</a:t>
            </a:r>
            <a:r>
              <a:rPr sz="145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0F2F3A"/>
                </a:solidFill>
                <a:latin typeface="Calibri"/>
                <a:cs typeface="Calibri"/>
              </a:rPr>
              <a:t>endpoints</a:t>
            </a:r>
            <a:endParaRPr sz="1450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509"/>
              </a:spcBef>
            </a:pP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Normativa</a:t>
            </a:r>
            <a:r>
              <a:rPr sz="125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vigente</a:t>
            </a:r>
            <a:r>
              <a:rPr sz="125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sobre</a:t>
            </a:r>
            <a:r>
              <a:rPr sz="125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dispositivos</a:t>
            </a:r>
            <a:r>
              <a:rPr sz="125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personales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evidencia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segmentación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2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aísle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equipos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personales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 err="1">
                <a:solidFill>
                  <a:srgbClr val="2A3A42"/>
                </a:solidFill>
                <a:latin typeface="Calibri"/>
                <a:cs typeface="Calibri"/>
              </a:rPr>
              <a:t>servidore</a:t>
            </a:r>
            <a:r>
              <a:rPr lang="es-CO" sz="1250" dirty="0">
                <a:solidFill>
                  <a:srgbClr val="2A3A42"/>
                </a:solidFill>
                <a:latin typeface="Calibri"/>
                <a:cs typeface="Calibri"/>
              </a:rPr>
              <a:t>s.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28000" y="1270000"/>
            <a:ext cx="3556000" cy="431800"/>
          </a:xfrm>
          <a:custGeom>
            <a:avLst/>
            <a:gdLst/>
            <a:ahLst/>
            <a:cxnLst/>
            <a:rect l="l" t="t" r="r" b="b"/>
            <a:pathLst>
              <a:path w="3556000" h="4318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68300"/>
                </a:lnTo>
                <a:lnTo>
                  <a:pt x="4985" y="393030"/>
                </a:lnTo>
                <a:lnTo>
                  <a:pt x="18586" y="413213"/>
                </a:lnTo>
                <a:lnTo>
                  <a:pt x="38769" y="426814"/>
                </a:lnTo>
                <a:lnTo>
                  <a:pt x="63500" y="431800"/>
                </a:lnTo>
                <a:lnTo>
                  <a:pt x="3492500" y="431800"/>
                </a:lnTo>
                <a:lnTo>
                  <a:pt x="3517230" y="426814"/>
                </a:lnTo>
                <a:lnTo>
                  <a:pt x="3537413" y="413213"/>
                </a:lnTo>
                <a:lnTo>
                  <a:pt x="3551014" y="393030"/>
                </a:lnTo>
                <a:lnTo>
                  <a:pt x="3556000" y="3683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0F2F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8293100" y="1333500"/>
            <a:ext cx="44195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ITIL </a:t>
            </a: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28000" y="1905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8293100" y="1947468"/>
            <a:ext cx="2945130" cy="73513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509"/>
              </a:spcBef>
            </a:pPr>
            <a:r>
              <a:rPr lang="es-CO" sz="1250" spc="-15" dirty="0">
                <a:solidFill>
                  <a:srgbClr val="2A3A42"/>
                </a:solidFill>
                <a:latin typeface="Calibri"/>
                <a:cs typeface="Calibri"/>
              </a:rPr>
              <a:t>Registro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del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último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año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técnicos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 Cables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Aéreos:</a:t>
            </a:r>
            <a:r>
              <a:rPr sz="1250" spc="-4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usabilidad,</a:t>
            </a:r>
            <a:r>
              <a:rPr sz="12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errores</a:t>
            </a:r>
            <a:r>
              <a:rPr sz="12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notificación</a:t>
            </a:r>
            <a:r>
              <a:rPr sz="1250" spc="-4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A3A42"/>
                </a:solidFill>
                <a:latin typeface="Calibri"/>
                <a:cs typeface="Calibri"/>
              </a:rPr>
              <a:t>en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SAP,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correcciones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3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datos.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28000" y="4064000"/>
            <a:ext cx="3556000" cy="2006600"/>
          </a:xfrm>
          <a:custGeom>
            <a:avLst/>
            <a:gdLst/>
            <a:ahLst/>
            <a:cxnLst/>
            <a:rect l="l" t="t" r="r" b="b"/>
            <a:pathLst>
              <a:path w="3556000" h="2006600">
                <a:moveTo>
                  <a:pt x="3492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43100"/>
                </a:lnTo>
                <a:lnTo>
                  <a:pt x="4985" y="1967830"/>
                </a:lnTo>
                <a:lnTo>
                  <a:pt x="18586" y="1988013"/>
                </a:lnTo>
                <a:lnTo>
                  <a:pt x="38769" y="2001614"/>
                </a:lnTo>
                <a:lnTo>
                  <a:pt x="63500" y="2006600"/>
                </a:lnTo>
                <a:lnTo>
                  <a:pt x="3492500" y="2006600"/>
                </a:lnTo>
                <a:lnTo>
                  <a:pt x="3517230" y="2001614"/>
                </a:lnTo>
                <a:lnTo>
                  <a:pt x="3537413" y="1988013"/>
                </a:lnTo>
                <a:lnTo>
                  <a:pt x="3551014" y="1967830"/>
                </a:lnTo>
                <a:lnTo>
                  <a:pt x="3556000" y="1943100"/>
                </a:lnTo>
                <a:lnTo>
                  <a:pt x="3556000" y="63500"/>
                </a:lnTo>
                <a:lnTo>
                  <a:pt x="3551014" y="38769"/>
                </a:lnTo>
                <a:lnTo>
                  <a:pt x="3537413" y="18586"/>
                </a:lnTo>
                <a:lnTo>
                  <a:pt x="3517230" y="4985"/>
                </a:lnTo>
                <a:lnTo>
                  <a:pt x="34925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8293100" y="4106468"/>
            <a:ext cx="3190875" cy="599203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450" b="1" dirty="0">
                <a:solidFill>
                  <a:srgbClr val="0F2F3A"/>
                </a:solidFill>
                <a:latin typeface="Calibri"/>
                <a:cs typeface="Calibri"/>
              </a:rPr>
              <a:t>Manuales</a:t>
            </a:r>
            <a:r>
              <a:rPr sz="145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F2F3A"/>
                </a:solidFill>
                <a:latin typeface="Calibri"/>
                <a:cs typeface="Calibri"/>
              </a:rPr>
              <a:t>y</a:t>
            </a:r>
            <a:r>
              <a:rPr sz="145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0F2F3A"/>
                </a:solidFill>
                <a:latin typeface="Calibri"/>
                <a:cs typeface="Calibri"/>
              </a:rPr>
              <a:t>capacitaciones</a:t>
            </a:r>
            <a:endParaRPr sz="1450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509"/>
              </a:spcBef>
            </a:pP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Procedimiento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oficial</a:t>
            </a:r>
            <a:r>
              <a:rPr sz="12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2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lang="es-CO" sz="1250" spc="-15" dirty="0">
                <a:solidFill>
                  <a:srgbClr val="2A3A42"/>
                </a:solidFill>
                <a:latin typeface="Calibri"/>
                <a:cs typeface="Calibri"/>
              </a:rPr>
              <a:t>manejo SAP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1073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ÓRDENES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AUDITADAS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40011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Sección</a:t>
            </a:r>
            <a:r>
              <a:rPr spc="-35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·</a:t>
            </a:r>
            <a:r>
              <a:rPr spc="-35" dirty="0"/>
              <a:t> </a:t>
            </a:r>
            <a:r>
              <a:rPr dirty="0"/>
              <a:t>Clase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actividad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8000" y="1066800"/>
          <a:ext cx="11176633" cy="46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7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0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Cl.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Creado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Inicio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r>
                        <a:rPr sz="8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Trab.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(min)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Texto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(campo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exportado)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15423073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CIFUENTES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RIOS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PABLO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sub-Operaciones,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ob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8000" y="1598294"/>
          <a:ext cx="11182982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15423845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31494731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CIFUENTES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RIOS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PABLO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realizan sub operaciones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15420168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TOBON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OCAMPO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17:00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18:00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DBEBF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ejecutan actividades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15408025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31494517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RIVERA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RESTREPO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CARLOS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18:30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realizan suboperaciones sin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novedad.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08000" y="2462676"/>
          <a:ext cx="11181711" cy="666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32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3835">
                <a:tc>
                  <a:txBody>
                    <a:bodyPr/>
                    <a:lstStyle/>
                    <a:p>
                      <a:pPr marL="50800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15419786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20000022224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RIVERA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RESTREPO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CARLOS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20:55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90"/>
                        </a:lnSpc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90"/>
                        </a:lnSpc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 la operación 2600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y la sub-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15407842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31494515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PEREZ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MUNERA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RUBEN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DARIO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18:00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realizan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suboperaciones: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15365270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31493369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SALAZAR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EMILIANO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A45MF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1700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cambio de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cabinas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sin </a:t>
                      </a: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ning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8000" y="3198495"/>
          <a:ext cx="11178534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7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7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32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15458690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31495841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ARROYAVE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MONTOYA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JAIME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ANDRES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A45MF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08:50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realizan sub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operaciones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programadas.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15419178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20000022222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ARROYAVE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MONTOYA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JAIME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ANDRES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P28MF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12:50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DBEBF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realizan las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sub- operaciones, sin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15460282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31495853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MAZO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MUÑOZ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YEDIER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ANDERSON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Generando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voltaje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(12.9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variable).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08000" y="4062876"/>
          <a:ext cx="11181711" cy="1199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32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3835">
                <a:tc>
                  <a:txBody>
                    <a:bodyPr/>
                    <a:lstStyle/>
                    <a:p>
                      <a:pPr marL="50800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15418912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20000022221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MAZO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MUÑOZ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YEDIER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ANDERSON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990"/>
                        </a:lnSpc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90"/>
                        </a:lnSpc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90"/>
                        </a:lnSpc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0"/>
                        </a:lnSpc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 turno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como OPC en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tarde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15403497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GRAJALES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MONTOYA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JOHN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DAMILO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realizan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suboperaciones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15469078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20000022282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DAVILA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ALVAREZ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NELSON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 operación 0300 con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sus sub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15482294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20000022299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GARCIA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RIOS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DANIEL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02:00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disponibilidad para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el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sistem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15480088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31496126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RAVE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HERRERA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ESTEBAN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ejecutan sub-operaciones sin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novedad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08000" y="5332095"/>
          <a:ext cx="11176633" cy="26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7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8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15479838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31496125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RIOS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HECTOR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JAVIER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P28NO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22:00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22:01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 se presentan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descargas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08000" y="5778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FBEBD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02229" y="5778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DBEBF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495300" y="5731509"/>
            <a:ext cx="6903720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  <a:tabLst>
                <a:tab pos="2684145" algn="l"/>
              </a:tabLst>
            </a:pP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Registrada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1–2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días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después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del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fin</a:t>
            </a:r>
            <a:r>
              <a:rPr sz="850" spc="-1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del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97982"/>
                </a:solidFill>
                <a:latin typeface="Calibri"/>
                <a:cs typeface="Calibri"/>
              </a:rPr>
              <a:t>trabajo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	Trabajo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real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97982"/>
                </a:solidFill>
                <a:latin typeface="Calibri"/>
                <a:cs typeface="Calibri"/>
              </a:rPr>
              <a:t>distinto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a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la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97982"/>
                </a:solidFill>
                <a:latin typeface="Calibri"/>
                <a:cs typeface="Calibri"/>
              </a:rPr>
              <a:t>diferencia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de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horas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97982"/>
                </a:solidFill>
                <a:latin typeface="Calibri"/>
                <a:cs typeface="Calibri"/>
              </a:rPr>
              <a:t>(&gt;1,5</a:t>
            </a:r>
            <a:r>
              <a:rPr sz="850" spc="-5" dirty="0">
                <a:solidFill>
                  <a:srgbClr val="697982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697982"/>
                </a:solidFill>
                <a:latin typeface="Calibri"/>
                <a:cs typeface="Calibri"/>
              </a:rPr>
              <a:t>min)</a:t>
            </a:r>
            <a:endParaRPr sz="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85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1073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ÓRDENES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AUDITADAS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45999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Sección</a:t>
            </a:r>
            <a:r>
              <a:rPr spc="-30" dirty="0"/>
              <a:t> 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·</a:t>
            </a:r>
            <a:r>
              <a:rPr spc="-25" dirty="0"/>
              <a:t> </a:t>
            </a:r>
            <a:r>
              <a:rPr dirty="0"/>
              <a:t>Sin</a:t>
            </a:r>
            <a:r>
              <a:rPr spc="-30" dirty="0"/>
              <a:t> </a:t>
            </a:r>
            <a:r>
              <a:rPr dirty="0"/>
              <a:t>título</a:t>
            </a:r>
            <a:r>
              <a:rPr spc="-2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/>
              <a:t>el</a:t>
            </a:r>
            <a:r>
              <a:rPr spc="-25" dirty="0"/>
              <a:t> </a:t>
            </a:r>
            <a:r>
              <a:rPr spc="-10" dirty="0"/>
              <a:t>archivo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420776"/>
              </p:ext>
            </p:extLst>
          </p:nvPr>
        </p:nvGraphicFramePr>
        <p:xfrm>
          <a:off x="508000" y="1064892"/>
          <a:ext cx="11176634" cy="2135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0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87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Cl.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Creado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Inicio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r>
                        <a:rPr sz="8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Trab.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(min)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Texto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(campo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exportado)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solidFill>
                      <a:srgbClr val="0F2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87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15457307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31495830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ORTIZ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ALVAREZ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JULIAN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5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10:05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registran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seriales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 pinza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CAB#13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87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15478819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31496108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BAÑOL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OBANDO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JORGE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ELIECER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A46NO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las suboperaciones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(30-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40-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87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15406292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31494498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MARTINEZ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ACOSTA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HARRY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EDUARDO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DBEBF6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sub-operaciones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546528" y="4673399"/>
            <a:ext cx="11176000" cy="1651000"/>
            <a:chOff x="508000" y="2768600"/>
            <a:chExt cx="11176000" cy="1651000"/>
          </a:xfrm>
        </p:grpSpPr>
        <p:sp>
          <p:nvSpPr>
            <p:cNvPr id="10" name="object 10"/>
            <p:cNvSpPr/>
            <p:nvPr/>
          </p:nvSpPr>
          <p:spPr>
            <a:xfrm>
              <a:off x="508000" y="2768600"/>
              <a:ext cx="11176000" cy="1651000"/>
            </a:xfrm>
            <a:custGeom>
              <a:avLst/>
              <a:gdLst/>
              <a:ahLst/>
              <a:cxnLst/>
              <a:rect l="l" t="t" r="r" b="b"/>
              <a:pathLst>
                <a:path w="11176000" h="1651000">
                  <a:moveTo>
                    <a:pt x="1109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574800"/>
                  </a:lnTo>
                  <a:lnTo>
                    <a:pt x="5982" y="1604477"/>
                  </a:lnTo>
                  <a:lnTo>
                    <a:pt x="22303" y="1628696"/>
                  </a:lnTo>
                  <a:lnTo>
                    <a:pt x="46522" y="1645017"/>
                  </a:lnTo>
                  <a:lnTo>
                    <a:pt x="76200" y="1651000"/>
                  </a:lnTo>
                  <a:lnTo>
                    <a:pt x="11099800" y="1651000"/>
                  </a:lnTo>
                  <a:lnTo>
                    <a:pt x="11129477" y="1645017"/>
                  </a:lnTo>
                  <a:lnTo>
                    <a:pt x="11153696" y="1628696"/>
                  </a:lnTo>
                  <a:lnTo>
                    <a:pt x="11170017" y="1604477"/>
                  </a:lnTo>
                  <a:lnTo>
                    <a:pt x="11176000" y="1574800"/>
                  </a:lnTo>
                  <a:lnTo>
                    <a:pt x="11176000" y="76200"/>
                  </a:lnTo>
                  <a:lnTo>
                    <a:pt x="11170017" y="46522"/>
                  </a:lnTo>
                  <a:lnTo>
                    <a:pt x="11153696" y="22303"/>
                  </a:lnTo>
                  <a:lnTo>
                    <a:pt x="11129477" y="5982"/>
                  </a:lnTo>
                  <a:lnTo>
                    <a:pt x="1109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08000" y="2768600"/>
              <a:ext cx="50800" cy="1651000"/>
            </a:xfrm>
            <a:custGeom>
              <a:avLst/>
              <a:gdLst/>
              <a:ahLst/>
              <a:cxnLst/>
              <a:rect l="l" t="t" r="r" b="b"/>
              <a:pathLst>
                <a:path w="50800" h="1651000">
                  <a:moveTo>
                    <a:pt x="50800" y="0"/>
                  </a:moveTo>
                  <a:lnTo>
                    <a:pt x="0" y="0"/>
                  </a:lnTo>
                  <a:lnTo>
                    <a:pt x="0" y="1651000"/>
                  </a:lnTo>
                  <a:lnTo>
                    <a:pt x="50800" y="1651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872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0250" y="4910053"/>
            <a:ext cx="10664825" cy="12871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850" b="1" spc="-10" dirty="0">
                <a:solidFill>
                  <a:srgbClr val="D8721A"/>
                </a:solidFill>
                <a:latin typeface="Calibri"/>
                <a:cs typeface="Calibri"/>
              </a:rPr>
              <a:t>OBSERVACIÓN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600" b="1" dirty="0">
                <a:solidFill>
                  <a:srgbClr val="0F2F3A"/>
                </a:solidFill>
                <a:latin typeface="Calibri"/>
                <a:cs typeface="Calibri"/>
              </a:rPr>
              <a:t>Lectura</a:t>
            </a:r>
            <a:r>
              <a:rPr sz="1600" b="1" spc="-2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1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F2F3A"/>
                </a:solidFill>
                <a:latin typeface="Calibri"/>
                <a:cs typeface="Calibri"/>
              </a:rPr>
              <a:t>la</a:t>
            </a:r>
            <a:r>
              <a:rPr sz="1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F2F3A"/>
                </a:solidFill>
                <a:latin typeface="Calibri"/>
                <a:cs typeface="Calibri"/>
              </a:rPr>
              <a:t>muestra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59"/>
              </a:spcBef>
            </a:pP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confirmación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15457307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indica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"Se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registran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seriales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pinza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CAB#13:",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pero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texto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termina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dos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puntos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no</a:t>
            </a:r>
            <a:r>
              <a:rPr sz="135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ven</a:t>
            </a:r>
            <a:r>
              <a:rPr sz="135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35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seriales</a:t>
            </a:r>
            <a:r>
              <a:rPr sz="1350" b="1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exportación;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es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única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mención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seriales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las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47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filas.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confirmación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15478819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indica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que</a:t>
            </a:r>
            <a:r>
              <a:rPr sz="1350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no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realizan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las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A3A42"/>
                </a:solidFill>
                <a:latin typeface="Calibri"/>
                <a:cs typeface="Calibri"/>
              </a:rPr>
              <a:t>suboperaciones</a:t>
            </a:r>
            <a:r>
              <a:rPr sz="1350" b="1" spc="-2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(30-40</a:t>
            </a:r>
            <a:r>
              <a:rPr lang="es-CO" sz="1350" spc="-10" dirty="0">
                <a:solidFill>
                  <a:srgbClr val="2A3A42"/>
                </a:solidFill>
                <a:latin typeface="Calibri"/>
                <a:cs typeface="Calibri"/>
              </a:rPr>
              <a:t>…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aun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así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registra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120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min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350" spc="-3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A42"/>
                </a:solidFill>
                <a:latin typeface="Calibri"/>
                <a:cs typeface="Calibri"/>
              </a:rPr>
              <a:t>trabajo</a:t>
            </a:r>
            <a:r>
              <a:rPr sz="1350" spc="-2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3A42"/>
                </a:solidFill>
                <a:latin typeface="Calibri"/>
                <a:cs typeface="Calibri"/>
              </a:rPr>
              <a:t>real.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1073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ÓRDENES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AUDITADAS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89966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Sección</a:t>
            </a:r>
            <a:r>
              <a:rPr spc="-40" dirty="0"/>
              <a:t> </a:t>
            </a:r>
            <a:r>
              <a:rPr dirty="0"/>
              <a:t>3</a:t>
            </a:r>
            <a:r>
              <a:rPr spc="-40" dirty="0"/>
              <a:t> </a:t>
            </a:r>
            <a:r>
              <a:rPr dirty="0"/>
              <a:t>·</a:t>
            </a:r>
            <a:r>
              <a:rPr spc="-40" dirty="0"/>
              <a:t> </a:t>
            </a:r>
            <a:r>
              <a:rPr dirty="0"/>
              <a:t>Diferencia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más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un</a:t>
            </a:r>
            <a:r>
              <a:rPr spc="-40" dirty="0"/>
              <a:t> </a:t>
            </a:r>
            <a:r>
              <a:rPr dirty="0"/>
              <a:t>día</a:t>
            </a:r>
            <a:r>
              <a:rPr spc="-40" dirty="0"/>
              <a:t> </a:t>
            </a:r>
            <a:r>
              <a:rPr dirty="0"/>
              <a:t>entre</a:t>
            </a:r>
            <a:r>
              <a:rPr spc="-40" dirty="0"/>
              <a:t> </a:t>
            </a:r>
            <a:r>
              <a:rPr dirty="0"/>
              <a:t>inicio</a:t>
            </a:r>
            <a:r>
              <a:rPr spc="-40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dirty="0"/>
              <a:t>fin</a:t>
            </a:r>
            <a:r>
              <a:rPr spc="-40" dirty="0"/>
              <a:t> </a:t>
            </a:r>
            <a:r>
              <a:rPr dirty="0"/>
              <a:t>real</a:t>
            </a:r>
            <a:r>
              <a:rPr spc="-40" dirty="0"/>
              <a:t> </a:t>
            </a:r>
            <a:r>
              <a:rPr spc="-10" dirty="0"/>
              <a:t>(1/2)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72597"/>
              </p:ext>
            </p:extLst>
          </p:nvPr>
        </p:nvGraphicFramePr>
        <p:xfrm>
          <a:off x="508000" y="1064894"/>
          <a:ext cx="11181075" cy="3862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94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7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248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670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Inicio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r>
                        <a:rPr sz="8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Días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+mj-lt"/>
                          <a:cs typeface="Calibri"/>
                        </a:rPr>
                        <a:t>Trab.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+mj-lt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+mj-lt"/>
                          <a:cs typeface="Calibri"/>
                        </a:rPr>
                        <a:t>(min)</a:t>
                      </a:r>
                      <a:endParaRPr sz="850" dirty="0">
                        <a:latin typeface="+mj-lt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Texto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(campo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exportado)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14577572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33041712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GOMEZ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MARTINEZ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WILSON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ALBERTO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10/03/2025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08:00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365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60,000</a:t>
                      </a:r>
                    </a:p>
                  </a:txBody>
                  <a:tcPr marL="9525" marR="9525" marT="9525" marB="0" anchor="ctr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 recepción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por parte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ingeni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15339421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33042445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GOMEZ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MARTINEZ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WILSON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ALBERTO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10/03/2025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365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 recepción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por parte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ingeni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14191980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31468912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GIRALDO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ANDRES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ELIAS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11/09/2025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00:20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181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prueba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deslizamiento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14997997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31484909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RIVERA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RESTREPO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CARLOS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07/12/2025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17:20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17:40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revisa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sin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observar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ninguna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novedad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15163929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301011150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HERRERA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JAIME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DUVAN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pruebas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iniciales de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funcionami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15428296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14:05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800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800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LUBRICACION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PINZA,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SUSPE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15428306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TORQUEO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TORNILLOS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15428317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AJUSTE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PUERT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15428333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15:35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15:55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INSPECCIÓN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GENERAL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15428282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INSPECCIÓN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PINZA: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AGUJAS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15428293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14:05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700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700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CONTROLAR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DESGASTE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15428322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15:35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LIMPIEZA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PANEL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SOLAR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15428329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15:35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VERIFICACIÓN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AJUSTE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15428272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INSPECCION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RUEDA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ESTA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94640"/>
            <a:ext cx="1073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3956B"/>
                </a:solidFill>
                <a:latin typeface="Calibri"/>
                <a:cs typeface="Calibri"/>
              </a:rPr>
              <a:t>ÓRDENES </a:t>
            </a:r>
            <a:r>
              <a:rPr sz="900" b="1" spc="-10" dirty="0">
                <a:solidFill>
                  <a:srgbClr val="13956B"/>
                </a:solidFill>
                <a:latin typeface="Calibri"/>
                <a:cs typeface="Calibri"/>
              </a:rPr>
              <a:t>AUDITADAS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89966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Sección</a:t>
            </a:r>
            <a:r>
              <a:rPr spc="-40" dirty="0"/>
              <a:t> </a:t>
            </a:r>
            <a:r>
              <a:rPr dirty="0"/>
              <a:t>3</a:t>
            </a:r>
            <a:r>
              <a:rPr spc="-40" dirty="0"/>
              <a:t> </a:t>
            </a:r>
            <a:r>
              <a:rPr dirty="0"/>
              <a:t>·</a:t>
            </a:r>
            <a:r>
              <a:rPr spc="-40" dirty="0"/>
              <a:t> </a:t>
            </a:r>
            <a:r>
              <a:rPr dirty="0"/>
              <a:t>Diferencia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más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un</a:t>
            </a:r>
            <a:r>
              <a:rPr spc="-40" dirty="0"/>
              <a:t> </a:t>
            </a:r>
            <a:r>
              <a:rPr dirty="0"/>
              <a:t>día</a:t>
            </a:r>
            <a:r>
              <a:rPr spc="-40" dirty="0"/>
              <a:t> </a:t>
            </a:r>
            <a:r>
              <a:rPr dirty="0"/>
              <a:t>entre</a:t>
            </a:r>
            <a:r>
              <a:rPr spc="-40" dirty="0"/>
              <a:t> </a:t>
            </a:r>
            <a:r>
              <a:rPr dirty="0"/>
              <a:t>inicio</a:t>
            </a:r>
            <a:r>
              <a:rPr spc="-40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dirty="0"/>
              <a:t>fin</a:t>
            </a:r>
            <a:r>
              <a:rPr spc="-40" dirty="0"/>
              <a:t> </a:t>
            </a:r>
            <a:r>
              <a:rPr dirty="0"/>
              <a:t>real</a:t>
            </a:r>
            <a:r>
              <a:rPr spc="-40" dirty="0"/>
              <a:t> </a:t>
            </a:r>
            <a:r>
              <a:rPr spc="-10" dirty="0"/>
              <a:t>(2/2)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995583"/>
              </p:ext>
            </p:extLst>
          </p:nvPr>
        </p:nvGraphicFramePr>
        <p:xfrm>
          <a:off x="508000" y="1064894"/>
          <a:ext cx="11113768" cy="381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Inicio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r>
                        <a:rPr sz="8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Días </a:t>
                      </a:r>
                      <a:r>
                        <a:rPr lang="es-CO" sz="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dif.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Trab.</a:t>
                      </a:r>
                      <a:r>
                        <a:rPr sz="8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(min)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Texto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sz="85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(campo</a:t>
                      </a:r>
                      <a:r>
                        <a:rPr sz="8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exportado)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solidFill>
                      <a:srgbClr val="0F2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15428277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10,000</a:t>
                      </a:r>
                    </a:p>
                  </a:txBody>
                  <a:tcPr marL="9525" marR="9525" marT="9525" marB="0" anchor="ctr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INSPECCION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RUEDA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A/C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15428254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TODOS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INSPECCIONARON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RU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15428252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13:05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AVISOS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PENDIENTES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SAP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15501202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301027017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PEÑA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LOAIZA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HUGO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ALFONSO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07:35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850" spc="-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instalación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trenza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aterriz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15428302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900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900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PRUEBAS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OPERATIVAS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IL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15428326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31494766</a:t>
                      </a:r>
                      <a:endParaRPr sz="85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CUERVO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NOVER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ANTONIO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A45TO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15:15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07/03/2026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1300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VERIFICACIÓN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AJUSTE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15300656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31492125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CHAVARRIA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MONSALVE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ANDREY</a:t>
                      </a:r>
                      <a:r>
                        <a:rPr sz="850" spc="3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STIVEN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09:00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acompañamiento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personal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POM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15471072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31495949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GARCIA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GUTIERREZ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DANIEL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ALEXIS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23:40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00:25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29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 el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siguiente cambio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cabina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15338435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31492791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GONZALEZ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GARCES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LUIS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GUILLERMO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12/03/2026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06:45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5000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realizan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suboperaciones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10-30-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15390806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301022527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MARIN</a:t>
                      </a:r>
                      <a:r>
                        <a:rPr sz="850" spc="15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ESPINOSA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JUAN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PABLO</a:t>
                      </a:r>
                      <a:endParaRPr sz="85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26/02/2026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03:20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 altura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 polea,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850" spc="-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polea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15405204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20000022208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DAVILA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ALVAREZ</a:t>
                      </a:r>
                      <a:r>
                        <a:rPr sz="850" spc="3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NELSON</a:t>
                      </a:r>
                      <a:r>
                        <a:rPr sz="850" spc="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DAVID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P26MO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10:10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 operación 0600 con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sus sub </a:t>
                      </a: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15430084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31494778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RONDEROS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DURAN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DAVID</a:t>
                      </a:r>
                      <a:r>
                        <a:rPr sz="850" spc="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ALEJANDRO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A45MO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01/03/2026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13:41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06/03/2026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14:05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realizan sub</a:t>
                      </a:r>
                      <a:r>
                        <a:rPr sz="850" spc="5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operaciones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programadas.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15466758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20000022233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ZULUAGA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VANEGAS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LUIS</a:t>
                      </a:r>
                      <a:r>
                        <a:rPr sz="850" spc="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MIGUEL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A45NO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10/03/2026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04:30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13/03/2026</a:t>
                      </a:r>
                      <a:r>
                        <a:rPr sz="850" spc="8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05:00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s-CO" sz="850" b="1" spc="-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lang="es-CO"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1600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 cap="flat" cmpd="sng" algn="ctr">
                      <a:solidFill>
                        <a:srgbClr val="D4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O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30,000</a:t>
                      </a:r>
                    </a:p>
                  </a:txBody>
                  <a:tcPr marL="9525" marR="9525" marT="9525" marB="0" anchor="ctr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85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se hace orden y </a:t>
                      </a:r>
                      <a:r>
                        <a:rPr sz="850" spc="-20" dirty="0">
                          <a:solidFill>
                            <a:srgbClr val="2A3A42"/>
                          </a:solidFill>
                          <a:latin typeface="Calibri"/>
                          <a:cs typeface="Calibri"/>
                        </a:rPr>
                        <a:t>aseo</a:t>
                      </a:r>
                      <a:endParaRPr sz="85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T w="6350">
                      <a:solidFill>
                        <a:srgbClr val="D4DDDA"/>
                      </a:solidFill>
                      <a:prstDash val="solid"/>
                    </a:lnT>
                    <a:lnB w="6350">
                      <a:solidFill>
                        <a:srgbClr val="D4DDDA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08000" y="5359400"/>
            <a:ext cx="11176000" cy="1016000"/>
            <a:chOff x="508000" y="5359400"/>
            <a:chExt cx="11176000" cy="1016000"/>
          </a:xfrm>
        </p:grpSpPr>
        <p:sp>
          <p:nvSpPr>
            <p:cNvPr id="6" name="object 6"/>
            <p:cNvSpPr/>
            <p:nvPr/>
          </p:nvSpPr>
          <p:spPr>
            <a:xfrm>
              <a:off x="508000" y="5359400"/>
              <a:ext cx="11176000" cy="1016000"/>
            </a:xfrm>
            <a:custGeom>
              <a:avLst/>
              <a:gdLst/>
              <a:ahLst/>
              <a:cxnLst/>
              <a:rect l="l" t="t" r="r" b="b"/>
              <a:pathLst>
                <a:path w="11176000" h="1016000">
                  <a:moveTo>
                    <a:pt x="11099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939800"/>
                  </a:lnTo>
                  <a:lnTo>
                    <a:pt x="5982" y="969477"/>
                  </a:lnTo>
                  <a:lnTo>
                    <a:pt x="22303" y="993696"/>
                  </a:lnTo>
                  <a:lnTo>
                    <a:pt x="46522" y="1010017"/>
                  </a:lnTo>
                  <a:lnTo>
                    <a:pt x="76200" y="1016000"/>
                  </a:lnTo>
                  <a:lnTo>
                    <a:pt x="11099800" y="1016000"/>
                  </a:lnTo>
                  <a:lnTo>
                    <a:pt x="11129477" y="1010017"/>
                  </a:lnTo>
                  <a:lnTo>
                    <a:pt x="11153696" y="993696"/>
                  </a:lnTo>
                  <a:lnTo>
                    <a:pt x="11170017" y="969477"/>
                  </a:lnTo>
                  <a:lnTo>
                    <a:pt x="11176000" y="939800"/>
                  </a:lnTo>
                  <a:lnTo>
                    <a:pt x="11176000" y="76200"/>
                  </a:lnTo>
                  <a:lnTo>
                    <a:pt x="11170017" y="46522"/>
                  </a:lnTo>
                  <a:lnTo>
                    <a:pt x="11153696" y="22303"/>
                  </a:lnTo>
                  <a:lnTo>
                    <a:pt x="11129477" y="5982"/>
                  </a:lnTo>
                  <a:lnTo>
                    <a:pt x="11099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08000" y="5359400"/>
              <a:ext cx="50800" cy="1016000"/>
            </a:xfrm>
            <a:custGeom>
              <a:avLst/>
              <a:gdLst/>
              <a:ahLst/>
              <a:cxnLst/>
              <a:rect l="l" t="t" r="r" b="b"/>
              <a:pathLst>
                <a:path w="50800" h="1016000">
                  <a:moveTo>
                    <a:pt x="50800" y="0"/>
                  </a:moveTo>
                  <a:lnTo>
                    <a:pt x="0" y="0"/>
                  </a:lnTo>
                  <a:lnTo>
                    <a:pt x="0" y="1016000"/>
                  </a:lnTo>
                  <a:lnTo>
                    <a:pt x="50800" y="1016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872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5300" y="5017770"/>
            <a:ext cx="10989310" cy="83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95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Orden 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31494766</a:t>
            </a:r>
            <a:endParaRPr sz="1400" dirty="0">
              <a:latin typeface="Calibri"/>
              <a:cs typeface="Calibri"/>
            </a:endParaRPr>
          </a:p>
          <a:p>
            <a:pPr marL="241300" marR="5080">
              <a:lnSpc>
                <a:spcPct val="110800"/>
              </a:lnSpc>
              <a:spcBef>
                <a:spcPts val="480"/>
              </a:spcBef>
            </a:pPr>
            <a:r>
              <a:rPr lang="es-CO" sz="1150" spc="-15" dirty="0">
                <a:solidFill>
                  <a:srgbClr val="2A3A42"/>
                </a:solidFill>
                <a:latin typeface="Calibri"/>
                <a:cs typeface="Calibri"/>
              </a:rPr>
              <a:t>2 </a:t>
            </a:r>
            <a:r>
              <a:rPr sz="1150" dirty="0" err="1">
                <a:solidFill>
                  <a:srgbClr val="2A3A42"/>
                </a:solidFill>
                <a:latin typeface="Calibri"/>
                <a:cs typeface="Calibri"/>
              </a:rPr>
              <a:t>confirmaciones</a:t>
            </a:r>
            <a:r>
              <a:rPr sz="115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2A3A42"/>
                </a:solidFill>
                <a:latin typeface="Calibri"/>
                <a:cs typeface="Calibri"/>
              </a:rPr>
              <a:t>del </a:t>
            </a:r>
            <a:r>
              <a:rPr sz="1150" dirty="0" err="1">
                <a:solidFill>
                  <a:srgbClr val="2A3A42"/>
                </a:solidFill>
                <a:latin typeface="Calibri"/>
                <a:cs typeface="Calibri"/>
              </a:rPr>
              <a:t>mismo</a:t>
            </a:r>
            <a:r>
              <a:rPr sz="11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lang="es-CO" sz="1150" dirty="0">
                <a:solidFill>
                  <a:srgbClr val="2A3A42"/>
                </a:solidFill>
                <a:latin typeface="Calibri"/>
                <a:cs typeface="Calibri"/>
              </a:rPr>
              <a:t>personal</a:t>
            </a:r>
            <a:r>
              <a:rPr sz="11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A3A42"/>
                </a:solidFill>
                <a:latin typeface="Calibri"/>
                <a:cs typeface="Calibri"/>
              </a:rPr>
              <a:t>se</a:t>
            </a:r>
            <a:r>
              <a:rPr sz="11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A3A42"/>
                </a:solidFill>
                <a:latin typeface="Calibri"/>
                <a:cs typeface="Calibri"/>
              </a:rPr>
              <a:t>traslapan</a:t>
            </a:r>
            <a:r>
              <a:rPr sz="11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150" spc="-10" dirty="0">
                <a:solidFill>
                  <a:srgbClr val="2A3A42"/>
                </a:solidFill>
                <a:latin typeface="Calibri"/>
                <a:cs typeface="Calibri"/>
              </a:rPr>
              <a:t> horario.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6153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Sección</a:t>
            </a:r>
            <a:r>
              <a:rPr spc="-50" dirty="0"/>
              <a:t> </a:t>
            </a:r>
            <a:r>
              <a:rPr dirty="0"/>
              <a:t>3</a:t>
            </a:r>
            <a:r>
              <a:rPr spc="-45" dirty="0"/>
              <a:t> </a:t>
            </a:r>
            <a:r>
              <a:rPr dirty="0"/>
              <a:t>·</a:t>
            </a:r>
            <a:r>
              <a:rPr spc="-45" dirty="0"/>
              <a:t> </a:t>
            </a:r>
            <a:r>
              <a:rPr dirty="0"/>
              <a:t>Patrón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las</a:t>
            </a:r>
            <a:r>
              <a:rPr spc="-45" dirty="0"/>
              <a:t> </a:t>
            </a:r>
            <a:r>
              <a:rPr dirty="0"/>
              <a:t>diferencias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fecha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300" y="1178559"/>
            <a:ext cx="34410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Confirmaciones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por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diferencia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en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días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entre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inicio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y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F2F3A"/>
                </a:solidFill>
                <a:latin typeface="Calibri"/>
                <a:cs typeface="Calibri"/>
              </a:rPr>
              <a:t>fin</a:t>
            </a:r>
            <a:r>
              <a:rPr sz="11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F2F3A"/>
                </a:solidFill>
                <a:latin typeface="Calibri"/>
                <a:cs typeface="Calibri"/>
              </a:rPr>
              <a:t>real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" y="1686559"/>
            <a:ext cx="3549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3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7000" y="1625600"/>
            <a:ext cx="190500" cy="355600"/>
          </a:xfrm>
          <a:custGeom>
            <a:avLst/>
            <a:gdLst/>
            <a:ahLst/>
            <a:cxnLst/>
            <a:rect l="l" t="t" r="r" b="b"/>
            <a:pathLst>
              <a:path w="190500" h="355600">
                <a:moveTo>
                  <a:pt x="152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152400" y="355600"/>
                </a:lnTo>
                <a:lnTo>
                  <a:pt x="167238" y="352608"/>
                </a:lnTo>
                <a:lnTo>
                  <a:pt x="179348" y="344448"/>
                </a:lnTo>
                <a:lnTo>
                  <a:pt x="187508" y="332338"/>
                </a:lnTo>
                <a:lnTo>
                  <a:pt x="190500" y="317500"/>
                </a:lnTo>
                <a:lnTo>
                  <a:pt x="190500" y="38100"/>
                </a:lnTo>
                <a:lnTo>
                  <a:pt x="187508" y="23261"/>
                </a:lnTo>
                <a:lnTo>
                  <a:pt x="179348" y="11151"/>
                </a:lnTo>
                <a:lnTo>
                  <a:pt x="167238" y="2991"/>
                </a:lnTo>
                <a:lnTo>
                  <a:pt x="1524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676400" y="16840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F2F3A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2296159"/>
            <a:ext cx="3549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5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97000" y="2235200"/>
            <a:ext cx="571500" cy="355600"/>
          </a:xfrm>
          <a:custGeom>
            <a:avLst/>
            <a:gdLst/>
            <a:ahLst/>
            <a:cxnLst/>
            <a:rect l="l" t="t" r="r" b="b"/>
            <a:pathLst>
              <a:path w="571500" h="355600">
                <a:moveTo>
                  <a:pt x="533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533400" y="355600"/>
                </a:lnTo>
                <a:lnTo>
                  <a:pt x="548238" y="352608"/>
                </a:lnTo>
                <a:lnTo>
                  <a:pt x="560348" y="344448"/>
                </a:lnTo>
                <a:lnTo>
                  <a:pt x="568508" y="332338"/>
                </a:lnTo>
                <a:lnTo>
                  <a:pt x="571500" y="317500"/>
                </a:lnTo>
                <a:lnTo>
                  <a:pt x="571500" y="38100"/>
                </a:lnTo>
                <a:lnTo>
                  <a:pt x="568508" y="23261"/>
                </a:lnTo>
                <a:lnTo>
                  <a:pt x="560348" y="11151"/>
                </a:lnTo>
                <a:lnTo>
                  <a:pt x="548238" y="2991"/>
                </a:lnTo>
                <a:lnTo>
                  <a:pt x="5334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057400" y="22936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F2F3A"/>
                </a:solidFill>
                <a:latin typeface="Calibri"/>
                <a:cs typeface="Calibri"/>
              </a:rPr>
              <a:t>3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300" y="2905759"/>
            <a:ext cx="636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28–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29 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97000" y="2844800"/>
            <a:ext cx="3810000" cy="355600"/>
          </a:xfrm>
          <a:custGeom>
            <a:avLst/>
            <a:gdLst/>
            <a:ahLst/>
            <a:cxnLst/>
            <a:rect l="l" t="t" r="r" b="b"/>
            <a:pathLst>
              <a:path w="3810000" h="355600">
                <a:moveTo>
                  <a:pt x="37719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3771900" y="355600"/>
                </a:lnTo>
                <a:lnTo>
                  <a:pt x="3786738" y="352608"/>
                </a:lnTo>
                <a:lnTo>
                  <a:pt x="3798848" y="344448"/>
                </a:lnTo>
                <a:lnTo>
                  <a:pt x="3807008" y="332338"/>
                </a:lnTo>
                <a:lnTo>
                  <a:pt x="3810000" y="317500"/>
                </a:lnTo>
                <a:lnTo>
                  <a:pt x="3810000" y="38100"/>
                </a:lnTo>
                <a:lnTo>
                  <a:pt x="3807008" y="23261"/>
                </a:lnTo>
                <a:lnTo>
                  <a:pt x="3798848" y="11151"/>
                </a:lnTo>
                <a:lnTo>
                  <a:pt x="3786738" y="2991"/>
                </a:lnTo>
                <a:lnTo>
                  <a:pt x="3771900" y="0"/>
                </a:lnTo>
                <a:close/>
              </a:path>
            </a:pathLst>
          </a:custGeom>
          <a:solidFill>
            <a:srgbClr val="D872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5295900" y="2903220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F2F3A"/>
                </a:solidFill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300" y="3515359"/>
            <a:ext cx="42608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90</a:t>
            </a:r>
            <a:r>
              <a:rPr sz="11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97000" y="3454400"/>
            <a:ext cx="190500" cy="355600"/>
          </a:xfrm>
          <a:custGeom>
            <a:avLst/>
            <a:gdLst/>
            <a:ahLst/>
            <a:cxnLst/>
            <a:rect l="l" t="t" r="r" b="b"/>
            <a:pathLst>
              <a:path w="190500" h="355600">
                <a:moveTo>
                  <a:pt x="152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152400" y="355600"/>
                </a:lnTo>
                <a:lnTo>
                  <a:pt x="167238" y="352608"/>
                </a:lnTo>
                <a:lnTo>
                  <a:pt x="179348" y="344448"/>
                </a:lnTo>
                <a:lnTo>
                  <a:pt x="187508" y="332338"/>
                </a:lnTo>
                <a:lnTo>
                  <a:pt x="190500" y="317500"/>
                </a:lnTo>
                <a:lnTo>
                  <a:pt x="190500" y="38100"/>
                </a:lnTo>
                <a:lnTo>
                  <a:pt x="187508" y="23261"/>
                </a:lnTo>
                <a:lnTo>
                  <a:pt x="179348" y="11151"/>
                </a:lnTo>
                <a:lnTo>
                  <a:pt x="167238" y="2991"/>
                </a:lnTo>
                <a:lnTo>
                  <a:pt x="1524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1676400" y="35128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F2F3A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5300" y="4124959"/>
            <a:ext cx="496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181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 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97000" y="4064000"/>
            <a:ext cx="190500" cy="355600"/>
          </a:xfrm>
          <a:custGeom>
            <a:avLst/>
            <a:gdLst/>
            <a:ahLst/>
            <a:cxnLst/>
            <a:rect l="l" t="t" r="r" b="b"/>
            <a:pathLst>
              <a:path w="190500" h="355600">
                <a:moveTo>
                  <a:pt x="152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152400" y="355600"/>
                </a:lnTo>
                <a:lnTo>
                  <a:pt x="167238" y="352608"/>
                </a:lnTo>
                <a:lnTo>
                  <a:pt x="179348" y="344448"/>
                </a:lnTo>
                <a:lnTo>
                  <a:pt x="187508" y="332338"/>
                </a:lnTo>
                <a:lnTo>
                  <a:pt x="190500" y="317500"/>
                </a:lnTo>
                <a:lnTo>
                  <a:pt x="190500" y="38100"/>
                </a:lnTo>
                <a:lnTo>
                  <a:pt x="187508" y="23261"/>
                </a:lnTo>
                <a:lnTo>
                  <a:pt x="179348" y="11151"/>
                </a:lnTo>
                <a:lnTo>
                  <a:pt x="167238" y="2991"/>
                </a:lnTo>
                <a:lnTo>
                  <a:pt x="1524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1676400" y="41224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F2F3A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5300" y="4734559"/>
            <a:ext cx="496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365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 días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97000" y="4673600"/>
            <a:ext cx="381000" cy="355600"/>
          </a:xfrm>
          <a:custGeom>
            <a:avLst/>
            <a:gdLst/>
            <a:ahLst/>
            <a:cxnLst/>
            <a:rect l="l" t="t" r="r" b="b"/>
            <a:pathLst>
              <a:path w="381000" h="355600">
                <a:moveTo>
                  <a:pt x="3429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317500"/>
                </a:lnTo>
                <a:lnTo>
                  <a:pt x="2991" y="332338"/>
                </a:lnTo>
                <a:lnTo>
                  <a:pt x="11151" y="344448"/>
                </a:lnTo>
                <a:lnTo>
                  <a:pt x="23261" y="352608"/>
                </a:lnTo>
                <a:lnTo>
                  <a:pt x="38100" y="355600"/>
                </a:lnTo>
                <a:lnTo>
                  <a:pt x="342900" y="355600"/>
                </a:lnTo>
                <a:lnTo>
                  <a:pt x="357738" y="352608"/>
                </a:lnTo>
                <a:lnTo>
                  <a:pt x="369848" y="344448"/>
                </a:lnTo>
                <a:lnTo>
                  <a:pt x="378008" y="332338"/>
                </a:lnTo>
                <a:lnTo>
                  <a:pt x="381000" y="317500"/>
                </a:lnTo>
                <a:lnTo>
                  <a:pt x="381000" y="38100"/>
                </a:lnTo>
                <a:lnTo>
                  <a:pt x="378008" y="23261"/>
                </a:lnTo>
                <a:lnTo>
                  <a:pt x="369848" y="11151"/>
                </a:lnTo>
                <a:lnTo>
                  <a:pt x="357738" y="2991"/>
                </a:lnTo>
                <a:lnTo>
                  <a:pt x="342900" y="0"/>
                </a:lnTo>
                <a:close/>
              </a:path>
            </a:pathLst>
          </a:custGeom>
          <a:solidFill>
            <a:srgbClr val="1395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1866900" y="47320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F2F3A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5300" y="5203190"/>
            <a:ext cx="5945505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1100" b="1" dirty="0">
                <a:solidFill>
                  <a:srgbClr val="2A3A42"/>
                </a:solidFill>
                <a:latin typeface="Calibri"/>
                <a:cs typeface="Calibri"/>
              </a:rPr>
              <a:t>20</a:t>
            </a:r>
            <a:r>
              <a:rPr sz="1100" b="1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3A42"/>
                </a:solidFill>
                <a:latin typeface="Calibri"/>
                <a:cs typeface="Calibri"/>
              </a:rPr>
              <a:t>de 28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confirmaciones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tienen una diferencia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 un mes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(28–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29 días): el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día del mes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coincide con el </a:t>
            </a:r>
            <a:r>
              <a:rPr sz="1100" spc="-20" dirty="0">
                <a:solidFill>
                  <a:srgbClr val="2A3A42"/>
                </a:solidFill>
                <a:latin typeface="Calibri"/>
                <a:cs typeface="Calibri"/>
              </a:rPr>
              <a:t>fin,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pero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el mes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 inicio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es el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anterior.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112000" y="1270000"/>
            <a:ext cx="4572000" cy="1498600"/>
            <a:chOff x="7112000" y="1270000"/>
            <a:chExt cx="4572000" cy="1498600"/>
          </a:xfrm>
        </p:grpSpPr>
        <p:sp>
          <p:nvSpPr>
            <p:cNvPr id="25" name="object 25"/>
            <p:cNvSpPr/>
            <p:nvPr/>
          </p:nvSpPr>
          <p:spPr>
            <a:xfrm>
              <a:off x="7112000" y="1270000"/>
              <a:ext cx="4572000" cy="1498600"/>
            </a:xfrm>
            <a:custGeom>
              <a:avLst/>
              <a:gdLst/>
              <a:ahLst/>
              <a:cxnLst/>
              <a:rect l="l" t="t" r="r" b="b"/>
              <a:pathLst>
                <a:path w="4572000" h="1498600">
                  <a:moveTo>
                    <a:pt x="4495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4495800" y="1498600"/>
                  </a:lnTo>
                  <a:lnTo>
                    <a:pt x="4525477" y="1492617"/>
                  </a:lnTo>
                  <a:lnTo>
                    <a:pt x="4549696" y="1476296"/>
                  </a:lnTo>
                  <a:lnTo>
                    <a:pt x="4566017" y="1452077"/>
                  </a:lnTo>
                  <a:lnTo>
                    <a:pt x="4572000" y="1422400"/>
                  </a:lnTo>
                  <a:lnTo>
                    <a:pt x="4572000" y="76200"/>
                  </a:lnTo>
                  <a:lnTo>
                    <a:pt x="4566017" y="46522"/>
                  </a:lnTo>
                  <a:lnTo>
                    <a:pt x="4549696" y="22303"/>
                  </a:lnTo>
                  <a:lnTo>
                    <a:pt x="4525477" y="5982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112000" y="1270000"/>
              <a:ext cx="50800" cy="1498600"/>
            </a:xfrm>
            <a:custGeom>
              <a:avLst/>
              <a:gdLst/>
              <a:ahLst/>
              <a:cxnLst/>
              <a:rect l="l" t="t" r="r" b="b"/>
              <a:pathLst>
                <a:path w="50800" h="1498600">
                  <a:moveTo>
                    <a:pt x="508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50800" y="14986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27900" y="1355679"/>
            <a:ext cx="4080510" cy="114046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850" b="1" spc="-10" dirty="0">
                <a:solidFill>
                  <a:srgbClr val="13956B"/>
                </a:solidFill>
                <a:latin typeface="Calibri"/>
                <a:cs typeface="Calibri"/>
              </a:rPr>
              <a:t>HALLAZGO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El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trabajo</a:t>
            </a:r>
            <a:r>
              <a:rPr sz="14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real</a:t>
            </a:r>
            <a:r>
              <a:rPr sz="14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sí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es</a:t>
            </a:r>
            <a:r>
              <a:rPr sz="14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1400" b="1" spc="-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horas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84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3A42"/>
                </a:solidFill>
                <a:latin typeface="Calibri"/>
                <a:cs typeface="Calibri"/>
              </a:rPr>
              <a:t>26</a:t>
            </a:r>
            <a:r>
              <a:rPr sz="1100" b="1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3A42"/>
                </a:solidFill>
                <a:latin typeface="Calibri"/>
                <a:cs typeface="Calibri"/>
              </a:rPr>
              <a:t>de 28</a:t>
            </a:r>
            <a:r>
              <a:rPr sz="1100" b="1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confirmaciones el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"Trabajo real"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coincide con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la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diferencia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horas del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mismo día. Es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decir: la fecha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 inicio está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mal digitada,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A3A42"/>
                </a:solidFill>
                <a:latin typeface="Calibri"/>
                <a:cs typeface="Calibri"/>
              </a:rPr>
              <a:t>no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hubo trabajos de varios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días.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12000" y="2946400"/>
            <a:ext cx="4572000" cy="1498600"/>
            <a:chOff x="7112000" y="2946400"/>
            <a:chExt cx="4572000" cy="1498600"/>
          </a:xfrm>
        </p:grpSpPr>
        <p:sp>
          <p:nvSpPr>
            <p:cNvPr id="29" name="object 29"/>
            <p:cNvSpPr/>
            <p:nvPr/>
          </p:nvSpPr>
          <p:spPr>
            <a:xfrm>
              <a:off x="7112000" y="2946400"/>
              <a:ext cx="4572000" cy="1498600"/>
            </a:xfrm>
            <a:custGeom>
              <a:avLst/>
              <a:gdLst/>
              <a:ahLst/>
              <a:cxnLst/>
              <a:rect l="l" t="t" r="r" b="b"/>
              <a:pathLst>
                <a:path w="4572000" h="1498600">
                  <a:moveTo>
                    <a:pt x="4495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4495800" y="1498600"/>
                  </a:lnTo>
                  <a:lnTo>
                    <a:pt x="4525477" y="1492617"/>
                  </a:lnTo>
                  <a:lnTo>
                    <a:pt x="4549696" y="1476296"/>
                  </a:lnTo>
                  <a:lnTo>
                    <a:pt x="4566017" y="1452077"/>
                  </a:lnTo>
                  <a:lnTo>
                    <a:pt x="4572000" y="1422400"/>
                  </a:lnTo>
                  <a:lnTo>
                    <a:pt x="4572000" y="76200"/>
                  </a:lnTo>
                  <a:lnTo>
                    <a:pt x="4566017" y="46522"/>
                  </a:lnTo>
                  <a:lnTo>
                    <a:pt x="4549696" y="22303"/>
                  </a:lnTo>
                  <a:lnTo>
                    <a:pt x="4525477" y="5982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112000" y="2946400"/>
              <a:ext cx="50800" cy="1498600"/>
            </a:xfrm>
            <a:custGeom>
              <a:avLst/>
              <a:gdLst/>
              <a:ahLst/>
              <a:cxnLst/>
              <a:rect l="l" t="t" r="r" b="b"/>
              <a:pathLst>
                <a:path w="50800" h="1498600">
                  <a:moveTo>
                    <a:pt x="508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50800" y="14986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872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27900" y="3032079"/>
            <a:ext cx="4107179" cy="9550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850" b="1" spc="-10" dirty="0">
                <a:solidFill>
                  <a:srgbClr val="D8721A"/>
                </a:solidFill>
                <a:latin typeface="Calibri"/>
                <a:cs typeface="Calibri"/>
              </a:rPr>
              <a:t>EXTREMO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Dos</a:t>
            </a:r>
            <a:r>
              <a:rPr sz="14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años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 distintos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10800"/>
              </a:lnSpc>
              <a:spcBef>
                <a:spcPts val="484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Dos</a:t>
            </a:r>
            <a:r>
              <a:rPr sz="11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confirmaciones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(orden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33041712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33042445)</a:t>
            </a:r>
            <a:r>
              <a:rPr sz="1100" spc="-1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tienen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inicio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A3A42"/>
                </a:solidFill>
                <a:latin typeface="Calibri"/>
                <a:cs typeface="Calibri"/>
              </a:rPr>
              <a:t>2025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fin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en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3A42"/>
                </a:solidFill>
                <a:latin typeface="Calibri"/>
                <a:cs typeface="Calibri"/>
              </a:rPr>
              <a:t>2026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: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365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diferencia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para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un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trabajo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60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minutos.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12000" y="4622800"/>
            <a:ext cx="4572000" cy="1498600"/>
            <a:chOff x="7112000" y="4622800"/>
            <a:chExt cx="4572000" cy="1498600"/>
          </a:xfrm>
        </p:grpSpPr>
        <p:sp>
          <p:nvSpPr>
            <p:cNvPr id="33" name="object 33"/>
            <p:cNvSpPr/>
            <p:nvPr/>
          </p:nvSpPr>
          <p:spPr>
            <a:xfrm>
              <a:off x="7112000" y="4622800"/>
              <a:ext cx="4572000" cy="1498600"/>
            </a:xfrm>
            <a:custGeom>
              <a:avLst/>
              <a:gdLst/>
              <a:ahLst/>
              <a:cxnLst/>
              <a:rect l="l" t="t" r="r" b="b"/>
              <a:pathLst>
                <a:path w="4572000" h="1498600">
                  <a:moveTo>
                    <a:pt x="4495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422400"/>
                  </a:lnTo>
                  <a:lnTo>
                    <a:pt x="5982" y="1452077"/>
                  </a:lnTo>
                  <a:lnTo>
                    <a:pt x="22303" y="1476296"/>
                  </a:lnTo>
                  <a:lnTo>
                    <a:pt x="46522" y="1492617"/>
                  </a:lnTo>
                  <a:lnTo>
                    <a:pt x="76200" y="1498600"/>
                  </a:lnTo>
                  <a:lnTo>
                    <a:pt x="4495800" y="1498600"/>
                  </a:lnTo>
                  <a:lnTo>
                    <a:pt x="4525477" y="1492617"/>
                  </a:lnTo>
                  <a:lnTo>
                    <a:pt x="4549696" y="1476296"/>
                  </a:lnTo>
                  <a:lnTo>
                    <a:pt x="4566017" y="1452077"/>
                  </a:lnTo>
                  <a:lnTo>
                    <a:pt x="4572000" y="1422400"/>
                  </a:lnTo>
                  <a:lnTo>
                    <a:pt x="4572000" y="76200"/>
                  </a:lnTo>
                  <a:lnTo>
                    <a:pt x="4566017" y="46522"/>
                  </a:lnTo>
                  <a:lnTo>
                    <a:pt x="4549696" y="22303"/>
                  </a:lnTo>
                  <a:lnTo>
                    <a:pt x="4525477" y="5982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7112000" y="4622800"/>
              <a:ext cx="50800" cy="1498600"/>
            </a:xfrm>
            <a:custGeom>
              <a:avLst/>
              <a:gdLst/>
              <a:ahLst/>
              <a:cxnLst/>
              <a:rect l="l" t="t" r="r" b="b"/>
              <a:pathLst>
                <a:path w="50800" h="1498600">
                  <a:moveTo>
                    <a:pt x="50800" y="0"/>
                  </a:moveTo>
                  <a:lnTo>
                    <a:pt x="0" y="0"/>
                  </a:lnTo>
                  <a:lnTo>
                    <a:pt x="0" y="1498600"/>
                  </a:lnTo>
                  <a:lnTo>
                    <a:pt x="50800" y="14986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F2F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327900" y="4708479"/>
            <a:ext cx="3982085" cy="114046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850" b="1" spc="-10" dirty="0">
                <a:solidFill>
                  <a:srgbClr val="0F2F3A"/>
                </a:solidFill>
                <a:latin typeface="Calibri"/>
                <a:cs typeface="Calibri"/>
              </a:rPr>
              <a:t>IMPACTO</a:t>
            </a:r>
            <a:endParaRPr sz="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b="1" dirty="0">
                <a:solidFill>
                  <a:srgbClr val="0F2F3A"/>
                </a:solidFill>
                <a:latin typeface="Calibri"/>
                <a:cs typeface="Calibri"/>
              </a:rPr>
              <a:t>Efecto en </a:t>
            </a:r>
            <a:r>
              <a:rPr sz="1400" b="1" spc="-10" dirty="0">
                <a:solidFill>
                  <a:srgbClr val="0F2F3A"/>
                </a:solidFill>
                <a:latin typeface="Calibri"/>
                <a:cs typeface="Calibri"/>
              </a:rPr>
              <a:t>indicadores</a:t>
            </a:r>
            <a:endParaRPr sz="1400" dirty="0">
              <a:latin typeface="Calibri"/>
              <a:cs typeface="Calibri"/>
            </a:endParaRPr>
          </a:p>
          <a:p>
            <a:pPr marL="12700" marR="5080" algn="just">
              <a:lnSpc>
                <a:spcPct val="110800"/>
              </a:lnSpc>
              <a:spcBef>
                <a:spcPts val="484"/>
              </a:spcBef>
            </a:pP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Cualquier cálculo de duración basado en las fechas del sistema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queda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inflado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(hasta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525.660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minutos),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aunque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el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trabajo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real</a:t>
            </a:r>
            <a:r>
              <a:rPr sz="110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A3A42"/>
                </a:solidFill>
                <a:latin typeface="Calibri"/>
                <a:cs typeface="Calibri"/>
              </a:rPr>
              <a:t>reportado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A3A42"/>
                </a:solidFill>
                <a:latin typeface="Calibri"/>
                <a:cs typeface="Calibri"/>
              </a:rPr>
              <a:t>sea </a:t>
            </a:r>
            <a:r>
              <a:rPr sz="1100" spc="-10" dirty="0">
                <a:solidFill>
                  <a:srgbClr val="2A3A42"/>
                </a:solidFill>
                <a:latin typeface="Calibri"/>
                <a:cs typeface="Calibri"/>
              </a:rPr>
              <a:t>correcto.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5300" y="429259"/>
            <a:ext cx="75520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Observaciones</a:t>
            </a:r>
            <a:r>
              <a:rPr spc="-4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calidad</a:t>
            </a:r>
            <a:r>
              <a:rPr spc="-4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datos</a:t>
            </a:r>
            <a:r>
              <a:rPr spc="-35" dirty="0"/>
              <a:t> </a:t>
            </a:r>
            <a:r>
              <a:rPr dirty="0"/>
              <a:t>(47</a:t>
            </a:r>
            <a:r>
              <a:rPr spc="-40" dirty="0"/>
              <a:t> </a:t>
            </a:r>
            <a:r>
              <a:rPr spc="-10" dirty="0"/>
              <a:t>confirmaciones)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95300" y="1126236"/>
            <a:ext cx="5461000" cy="1320800"/>
            <a:chOff x="6223000" y="1244600"/>
            <a:chExt cx="5461000" cy="1320800"/>
          </a:xfrm>
        </p:grpSpPr>
        <p:sp>
          <p:nvSpPr>
            <p:cNvPr id="9" name="object 9"/>
            <p:cNvSpPr/>
            <p:nvPr/>
          </p:nvSpPr>
          <p:spPr>
            <a:xfrm>
              <a:off x="6223000" y="1244600"/>
              <a:ext cx="5461000" cy="1320800"/>
            </a:xfrm>
            <a:custGeom>
              <a:avLst/>
              <a:gdLst/>
              <a:ahLst/>
              <a:cxnLst/>
              <a:rect l="l" t="t" r="r" b="b"/>
              <a:pathLst>
                <a:path w="5461000" h="1320800">
                  <a:moveTo>
                    <a:pt x="5384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244600"/>
                  </a:lnTo>
                  <a:lnTo>
                    <a:pt x="5982" y="1274277"/>
                  </a:lnTo>
                  <a:lnTo>
                    <a:pt x="22303" y="1298496"/>
                  </a:lnTo>
                  <a:lnTo>
                    <a:pt x="46522" y="1314817"/>
                  </a:lnTo>
                  <a:lnTo>
                    <a:pt x="76200" y="1320800"/>
                  </a:lnTo>
                  <a:lnTo>
                    <a:pt x="5384800" y="1320800"/>
                  </a:lnTo>
                  <a:lnTo>
                    <a:pt x="5414477" y="1314817"/>
                  </a:lnTo>
                  <a:lnTo>
                    <a:pt x="5438696" y="1298496"/>
                  </a:lnTo>
                  <a:lnTo>
                    <a:pt x="5455017" y="1274277"/>
                  </a:lnTo>
                  <a:lnTo>
                    <a:pt x="5461000" y="1244600"/>
                  </a:lnTo>
                  <a:lnTo>
                    <a:pt x="5461000" y="76200"/>
                  </a:lnTo>
                  <a:lnTo>
                    <a:pt x="5455017" y="46522"/>
                  </a:lnTo>
                  <a:lnTo>
                    <a:pt x="5438696" y="22303"/>
                  </a:lnTo>
                  <a:lnTo>
                    <a:pt x="5414477" y="5982"/>
                  </a:lnTo>
                  <a:lnTo>
                    <a:pt x="5384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223000" y="1244600"/>
              <a:ext cx="63500" cy="1320800"/>
            </a:xfrm>
            <a:custGeom>
              <a:avLst/>
              <a:gdLst/>
              <a:ahLst/>
              <a:cxnLst/>
              <a:rect l="l" t="t" r="r" b="b"/>
              <a:pathLst>
                <a:path w="63500" h="1320800">
                  <a:moveTo>
                    <a:pt x="63500" y="0"/>
                  </a:moveTo>
                  <a:lnTo>
                    <a:pt x="0" y="0"/>
                  </a:lnTo>
                  <a:lnTo>
                    <a:pt x="0" y="1320800"/>
                  </a:lnTo>
                  <a:lnTo>
                    <a:pt x="63500" y="13208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36600" y="988567"/>
            <a:ext cx="3265170" cy="1123315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28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F2F3A"/>
                </a:solidFill>
                <a:latin typeface="Calibri"/>
                <a:cs typeface="Calibri"/>
              </a:rPr>
              <a:t>47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50" b="1" spc="-10" dirty="0">
                <a:solidFill>
                  <a:srgbClr val="0F2F3A"/>
                </a:solidFill>
                <a:latin typeface="Calibri"/>
                <a:cs typeface="Calibri"/>
              </a:rPr>
              <a:t>confirmaciones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 con</a:t>
            </a:r>
            <a:r>
              <a:rPr sz="1250" b="1" spc="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fechas </a:t>
            </a:r>
            <a:r>
              <a:rPr sz="1250" b="1" spc="-10" dirty="0">
                <a:solidFill>
                  <a:srgbClr val="0F2F3A"/>
                </a:solidFill>
                <a:latin typeface="Calibri"/>
                <a:cs typeface="Calibri"/>
              </a:rPr>
              <a:t>incoherentes</a:t>
            </a:r>
            <a:endParaRPr sz="1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Diferencias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de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3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365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días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entre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inicio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fin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real</a:t>
            </a:r>
            <a:r>
              <a:rPr sz="1050" spc="-25" dirty="0">
                <a:solidFill>
                  <a:srgbClr val="2A3A42"/>
                </a:solidFill>
                <a:latin typeface="Calibri"/>
                <a:cs typeface="Calibri"/>
              </a:rPr>
              <a:t>.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8000" y="2743200"/>
            <a:ext cx="5461000" cy="1320800"/>
            <a:chOff x="508000" y="2743200"/>
            <a:chExt cx="5461000" cy="1320800"/>
          </a:xfrm>
        </p:grpSpPr>
        <p:sp>
          <p:nvSpPr>
            <p:cNvPr id="13" name="object 13"/>
            <p:cNvSpPr/>
            <p:nvPr/>
          </p:nvSpPr>
          <p:spPr>
            <a:xfrm>
              <a:off x="508000" y="2743200"/>
              <a:ext cx="5461000" cy="1320800"/>
            </a:xfrm>
            <a:custGeom>
              <a:avLst/>
              <a:gdLst/>
              <a:ahLst/>
              <a:cxnLst/>
              <a:rect l="l" t="t" r="r" b="b"/>
              <a:pathLst>
                <a:path w="5461000" h="1320800">
                  <a:moveTo>
                    <a:pt x="5384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244600"/>
                  </a:lnTo>
                  <a:lnTo>
                    <a:pt x="5982" y="1274277"/>
                  </a:lnTo>
                  <a:lnTo>
                    <a:pt x="22303" y="1298496"/>
                  </a:lnTo>
                  <a:lnTo>
                    <a:pt x="46522" y="1314817"/>
                  </a:lnTo>
                  <a:lnTo>
                    <a:pt x="76200" y="1320800"/>
                  </a:lnTo>
                  <a:lnTo>
                    <a:pt x="5384800" y="1320800"/>
                  </a:lnTo>
                  <a:lnTo>
                    <a:pt x="5414477" y="1314817"/>
                  </a:lnTo>
                  <a:lnTo>
                    <a:pt x="5438696" y="1298496"/>
                  </a:lnTo>
                  <a:lnTo>
                    <a:pt x="5455017" y="1274277"/>
                  </a:lnTo>
                  <a:lnTo>
                    <a:pt x="5461000" y="1244600"/>
                  </a:lnTo>
                  <a:lnTo>
                    <a:pt x="5461000" y="76200"/>
                  </a:lnTo>
                  <a:lnTo>
                    <a:pt x="5455017" y="46522"/>
                  </a:lnTo>
                  <a:lnTo>
                    <a:pt x="5438696" y="22303"/>
                  </a:lnTo>
                  <a:lnTo>
                    <a:pt x="5414477" y="5982"/>
                  </a:lnTo>
                  <a:lnTo>
                    <a:pt x="5384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8000" y="2743200"/>
              <a:ext cx="63500" cy="1320800"/>
            </a:xfrm>
            <a:custGeom>
              <a:avLst/>
              <a:gdLst/>
              <a:ahLst/>
              <a:cxnLst/>
              <a:rect l="l" t="t" r="r" b="b"/>
              <a:pathLst>
                <a:path w="63500" h="1320800">
                  <a:moveTo>
                    <a:pt x="63500" y="0"/>
                  </a:moveTo>
                  <a:lnTo>
                    <a:pt x="0" y="0"/>
                  </a:lnTo>
                  <a:lnTo>
                    <a:pt x="0" y="1320800"/>
                  </a:lnTo>
                  <a:lnTo>
                    <a:pt x="63500" y="13208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9300" y="2605531"/>
            <a:ext cx="3398520" cy="921406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7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F2F3A"/>
                </a:solidFill>
                <a:latin typeface="Calibri"/>
                <a:cs typeface="Calibri"/>
              </a:rPr>
              <a:t>47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registradas</a:t>
            </a:r>
            <a:r>
              <a:rPr sz="1250" b="1" spc="-3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F2F3A"/>
                </a:solidFill>
                <a:latin typeface="Calibri"/>
                <a:cs typeface="Calibri"/>
              </a:rPr>
              <a:t>1–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2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días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después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terminar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el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spc="-10" dirty="0" err="1">
                <a:solidFill>
                  <a:srgbClr val="0F2F3A"/>
                </a:solidFill>
                <a:latin typeface="Calibri"/>
                <a:cs typeface="Calibri"/>
              </a:rPr>
              <a:t>trabajo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7600" y="1163320"/>
            <a:ext cx="5461000" cy="1320800"/>
            <a:chOff x="6223000" y="2743200"/>
            <a:chExt cx="5461000" cy="1320800"/>
          </a:xfrm>
        </p:grpSpPr>
        <p:sp>
          <p:nvSpPr>
            <p:cNvPr id="17" name="object 17"/>
            <p:cNvSpPr/>
            <p:nvPr/>
          </p:nvSpPr>
          <p:spPr>
            <a:xfrm>
              <a:off x="6223000" y="2743200"/>
              <a:ext cx="5461000" cy="1320800"/>
            </a:xfrm>
            <a:custGeom>
              <a:avLst/>
              <a:gdLst/>
              <a:ahLst/>
              <a:cxnLst/>
              <a:rect l="l" t="t" r="r" b="b"/>
              <a:pathLst>
                <a:path w="5461000" h="1320800">
                  <a:moveTo>
                    <a:pt x="53848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244600"/>
                  </a:lnTo>
                  <a:lnTo>
                    <a:pt x="5982" y="1274277"/>
                  </a:lnTo>
                  <a:lnTo>
                    <a:pt x="22303" y="1298496"/>
                  </a:lnTo>
                  <a:lnTo>
                    <a:pt x="46522" y="1314817"/>
                  </a:lnTo>
                  <a:lnTo>
                    <a:pt x="76200" y="1320800"/>
                  </a:lnTo>
                  <a:lnTo>
                    <a:pt x="5384800" y="1320800"/>
                  </a:lnTo>
                  <a:lnTo>
                    <a:pt x="5414477" y="1314817"/>
                  </a:lnTo>
                  <a:lnTo>
                    <a:pt x="5438696" y="1298496"/>
                  </a:lnTo>
                  <a:lnTo>
                    <a:pt x="5455017" y="1274277"/>
                  </a:lnTo>
                  <a:lnTo>
                    <a:pt x="5461000" y="1244600"/>
                  </a:lnTo>
                  <a:lnTo>
                    <a:pt x="5461000" y="76200"/>
                  </a:lnTo>
                  <a:lnTo>
                    <a:pt x="5455017" y="46522"/>
                  </a:lnTo>
                  <a:lnTo>
                    <a:pt x="5438696" y="22303"/>
                  </a:lnTo>
                  <a:lnTo>
                    <a:pt x="5414477" y="5982"/>
                  </a:lnTo>
                  <a:lnTo>
                    <a:pt x="53848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23000" y="2743200"/>
              <a:ext cx="63500" cy="1320800"/>
            </a:xfrm>
            <a:custGeom>
              <a:avLst/>
              <a:gdLst/>
              <a:ahLst/>
              <a:cxnLst/>
              <a:rect l="l" t="t" r="r" b="b"/>
              <a:pathLst>
                <a:path w="63500" h="1320800">
                  <a:moveTo>
                    <a:pt x="63500" y="0"/>
                  </a:moveTo>
                  <a:lnTo>
                    <a:pt x="0" y="0"/>
                  </a:lnTo>
                  <a:lnTo>
                    <a:pt x="0" y="1320800"/>
                  </a:lnTo>
                  <a:lnTo>
                    <a:pt x="63500" y="13208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13956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38900" y="1025651"/>
            <a:ext cx="3202305" cy="1123315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5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2600" b="1" spc="-1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F2F3A"/>
                </a:solidFill>
                <a:latin typeface="Calibri"/>
                <a:cs typeface="Calibri"/>
              </a:rPr>
              <a:t>47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con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Trabajo</a:t>
            </a:r>
            <a:r>
              <a:rPr sz="1250" b="1" spc="-2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real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distinto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a</a:t>
            </a:r>
            <a:r>
              <a:rPr sz="1250" b="1" spc="-2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la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diferencia</a:t>
            </a:r>
            <a:r>
              <a:rPr sz="1250" b="1" spc="-20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F2F3A"/>
                </a:solidFill>
                <a:latin typeface="Calibri"/>
                <a:cs typeface="Calibri"/>
              </a:rPr>
              <a:t>de</a:t>
            </a:r>
            <a:r>
              <a:rPr sz="1250" b="1" spc="-25" dirty="0">
                <a:solidFill>
                  <a:srgbClr val="0F2F3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F2F3A"/>
                </a:solidFill>
                <a:latin typeface="Calibri"/>
                <a:cs typeface="Calibri"/>
              </a:rPr>
              <a:t>horas</a:t>
            </a:r>
            <a:endParaRPr sz="1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Los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casos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más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marcados: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300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vs.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260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min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y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10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vs.</a:t>
            </a:r>
            <a:r>
              <a:rPr sz="1050" spc="-10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A3A42"/>
                </a:solidFill>
                <a:latin typeface="Calibri"/>
                <a:cs typeface="Calibri"/>
              </a:rPr>
              <a:t>20</a:t>
            </a:r>
            <a:r>
              <a:rPr sz="1050" spc="-5" dirty="0">
                <a:solidFill>
                  <a:srgbClr val="2A3A42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A3A42"/>
                </a:solidFill>
                <a:latin typeface="Calibri"/>
                <a:cs typeface="Calibri"/>
              </a:rPr>
              <a:t>min.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8000" y="6451600"/>
            <a:ext cx="11176000" cy="0"/>
          </a:xfrm>
          <a:custGeom>
            <a:avLst/>
            <a:gdLst/>
            <a:ahLst/>
            <a:cxnLst/>
            <a:rect l="l" t="t" r="r" b="b"/>
            <a:pathLst>
              <a:path w="11176000">
                <a:moveTo>
                  <a:pt x="0" y="0"/>
                </a:moveTo>
                <a:lnTo>
                  <a:pt x="11176000" y="0"/>
                </a:lnTo>
              </a:path>
            </a:pathLst>
          </a:custGeom>
          <a:ln w="7620">
            <a:solidFill>
              <a:srgbClr val="D4DDD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1339</TotalTime>
  <Words>1942</Words>
  <Application>Microsoft Office PowerPoint</Application>
  <PresentationFormat>Panorámica</PresentationFormat>
  <Paragraphs>618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Calibri</vt:lpstr>
      <vt:lpstr>Office Theme</vt:lpstr>
      <vt:lpstr>Metro de Medellín Área de Cables Aéreos · SAP</vt:lpstr>
      <vt:lpstr>Contexto de la organización</vt:lpstr>
      <vt:lpstr>Marcos de referencia y orden de aplicación</vt:lpstr>
      <vt:lpstr>Justificación de la elección y el orden</vt:lpstr>
      <vt:lpstr>Evidencia a solicitar</vt:lpstr>
      <vt:lpstr>Sección 1 · Clase de actividad</vt:lpstr>
      <vt:lpstr>Sección 2 · Sin título en el archivo</vt:lpstr>
      <vt:lpstr>Sección 3 · Diferencia de más de un día entre inicio y fin real (1/2)</vt:lpstr>
      <vt:lpstr>Sección 3 · Diferencia de más de un día entre inicio y fin real (2/2)</vt:lpstr>
      <vt:lpstr>Sección 3 · Patrón de las diferencias de fecha</vt:lpstr>
      <vt:lpstr>Observaciones de calidad de datos (47 confirmaciones)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 de Sistemas: Metro de Medellín - Cables Aéreos</dc:title>
  <dc:subject>unspecified</dc:subject>
  <dc:creator>Equipo de Auditoría</dc:creator>
  <cp:lastModifiedBy>Juan  Marin</cp:lastModifiedBy>
  <cp:revision>9</cp:revision>
  <dcterms:created xsi:type="dcterms:W3CDTF">2026-09-21T23:51:56Z</dcterms:created>
  <dcterms:modified xsi:type="dcterms:W3CDTF">2026-09-24T22:27:02Z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2026-09-21T00:00:00Z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2026-09-21T00:00:00Z</vt:filetime>
  </property>
  <property fmtid="{D5CDD505-2E9C-101B-9397-08002B2CF9AE}" pid="6" name="Producer">
    <vt:lpwstr>ReportLab PDF Library - (opensource)</vt:lpwstr>
  </property>
</Properties>
</file>